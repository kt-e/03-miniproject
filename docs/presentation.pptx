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Source Han Sans KR" charset="1" panose="020B0400000000000000"/>
      <p:regular r:id="rId20"/>
    </p:embeddedFont>
    <p:embeddedFont>
      <p:font typeface="Source Han Sans KR Bold" charset="1" panose="020B0800000000000000"/>
      <p:regular r:id="rId21"/>
    </p:embeddedFont>
    <p:embeddedFont>
      <p:font typeface="Noto Sans Kr" charset="1" panose="020B0200000000000000"/>
      <p:regular r:id="rId22"/>
    </p:embeddedFont>
    <p:embeddedFont>
      <p:font typeface="Source Han Sans KR Medium" charset="1" panose="020B06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embeddings/oleObject1.bin" Type="http://schemas.openxmlformats.org/officeDocument/2006/relationships/oleObject"/><Relationship Id="rId6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10440" y="1550936"/>
            <a:ext cx="6655008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LLMOps</a:t>
            </a:r>
            <a:r>
              <a:rPr lang="en-US" sz="390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[미니 프로젝트 3차]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10440" y="8502737"/>
            <a:ext cx="5222926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>
                    <a:alpha val="60000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김경민 | 김다진 | 김석주 | 김채린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>
                    <a:alpha val="60000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오희주 | 정영환 | 조영웅 | 조현우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10440" y="8019148"/>
            <a:ext cx="356670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3차 미니프로젝트 12조</a:t>
            </a:r>
          </a:p>
        </p:txBody>
      </p:sp>
      <p:sp>
        <p:nvSpPr>
          <p:cNvPr name="AutoShape 5" id="5"/>
          <p:cNvSpPr/>
          <p:nvPr/>
        </p:nvSpPr>
        <p:spPr>
          <a:xfrm>
            <a:off x="1410440" y="2437326"/>
            <a:ext cx="1306371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4352374" y="-299232"/>
            <a:ext cx="6606993" cy="11916804"/>
            <a:chOff x="0" y="0"/>
            <a:chExt cx="8809324" cy="15889073"/>
          </a:xfrm>
        </p:grpSpPr>
        <p:grpSp>
          <p:nvGrpSpPr>
            <p:cNvPr name="Group 7" id="7"/>
            <p:cNvGrpSpPr/>
            <p:nvPr/>
          </p:nvGrpSpPr>
          <p:grpSpPr>
            <a:xfrm rot="-10197375">
              <a:off x="1273187" y="389538"/>
              <a:ext cx="5794941" cy="15109997"/>
              <a:chOff x="0" y="0"/>
              <a:chExt cx="1144680" cy="298469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144680" cy="2984691"/>
              </a:xfrm>
              <a:custGeom>
                <a:avLst/>
                <a:gdLst/>
                <a:ahLst/>
                <a:cxnLst/>
                <a:rect r="r" b="b" t="t" l="l"/>
                <a:pathLst>
                  <a:path h="2984691" w="1144680">
                    <a:moveTo>
                      <a:pt x="203200" y="2984691"/>
                    </a:moveTo>
                    <a:lnTo>
                      <a:pt x="941480" y="2984691"/>
                    </a:lnTo>
                    <a:lnTo>
                      <a:pt x="1144680" y="0"/>
                    </a:lnTo>
                    <a:lnTo>
                      <a:pt x="0" y="0"/>
                    </a:lnTo>
                    <a:lnTo>
                      <a:pt x="203200" y="2984691"/>
                    </a:lnTo>
                    <a:close/>
                  </a:path>
                </a:pathLst>
              </a:custGeom>
              <a:solidFill>
                <a:srgbClr val="9EA2C4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27000" y="-76200"/>
                <a:ext cx="890680" cy="30608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-10221966">
              <a:off x="1856817" y="373681"/>
              <a:ext cx="5733845" cy="15047241"/>
              <a:chOff x="0" y="0"/>
              <a:chExt cx="1132611" cy="297229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132611" cy="2972295"/>
              </a:xfrm>
              <a:custGeom>
                <a:avLst/>
                <a:gdLst/>
                <a:ahLst/>
                <a:cxnLst/>
                <a:rect r="r" b="b" t="t" l="l"/>
                <a:pathLst>
                  <a:path h="2972295" w="1132611">
                    <a:moveTo>
                      <a:pt x="203200" y="2972295"/>
                    </a:moveTo>
                    <a:lnTo>
                      <a:pt x="929411" y="2972295"/>
                    </a:lnTo>
                    <a:lnTo>
                      <a:pt x="1132611" y="0"/>
                    </a:lnTo>
                    <a:lnTo>
                      <a:pt x="0" y="0"/>
                    </a:lnTo>
                    <a:lnTo>
                      <a:pt x="203200" y="2972295"/>
                    </a:lnTo>
                    <a:close/>
                  </a:path>
                </a:pathLst>
              </a:custGeom>
              <a:solidFill>
                <a:srgbClr val="F98698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27000" y="-76200"/>
                <a:ext cx="878611" cy="304849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2324367" y="12644617"/>
              <a:ext cx="1987676" cy="436852"/>
            </a:xfrm>
            <a:custGeom>
              <a:avLst/>
              <a:gdLst/>
              <a:ahLst/>
              <a:cxnLst/>
              <a:rect r="r" b="b" t="t" l="l"/>
              <a:pathLst>
                <a:path h="436852" w="1987676">
                  <a:moveTo>
                    <a:pt x="0" y="0"/>
                  </a:moveTo>
                  <a:lnTo>
                    <a:pt x="1987676" y="0"/>
                  </a:lnTo>
                  <a:lnTo>
                    <a:pt x="1987676" y="436852"/>
                  </a:lnTo>
                  <a:lnTo>
                    <a:pt x="0" y="43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410440" y="2843020"/>
            <a:ext cx="10954216" cy="1571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7"/>
              </a:lnSpc>
              <a:spcBef>
                <a:spcPct val="0"/>
              </a:spcBef>
            </a:pPr>
            <a:r>
              <a:rPr lang="en-US" b="true" sz="4512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상품 리뷰를 구조화된 감성 데이터로 변환하는 Multi - Agent AI 분석 시스템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7632" y="702857"/>
            <a:ext cx="284529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Contents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4193844"/>
            <a:ext cx="3738058" cy="1391517"/>
            <a:chOff x="0" y="0"/>
            <a:chExt cx="4984078" cy="185535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2100549" y="235698"/>
              <a:ext cx="2883529" cy="11122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56"/>
                </a:lnSpc>
                <a:spcBef>
                  <a:spcPct val="0"/>
                </a:spcBef>
              </a:pPr>
              <a:r>
                <a:rPr lang="en-US" b="true" sz="4178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문제 정의 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581025"/>
              <a:ext cx="1896864" cy="24363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7191"/>
                </a:lnSpc>
                <a:spcBef>
                  <a:spcPct val="0"/>
                </a:spcBef>
              </a:pPr>
              <a:r>
                <a:rPr lang="en-US" b="true" sz="9144">
                  <a:solidFill>
                    <a:srgbClr val="FC4561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01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-10197375">
            <a:off x="15918320" y="63773"/>
            <a:ext cx="4346206" cy="11332498"/>
            <a:chOff x="0" y="0"/>
            <a:chExt cx="1144680" cy="29846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4680" cy="2984691"/>
            </a:xfrm>
            <a:custGeom>
              <a:avLst/>
              <a:gdLst/>
              <a:ahLst/>
              <a:cxnLst/>
              <a:rect r="r" b="b" t="t" l="l"/>
              <a:pathLst>
                <a:path h="2984691" w="1144680">
                  <a:moveTo>
                    <a:pt x="203200" y="2984691"/>
                  </a:moveTo>
                  <a:lnTo>
                    <a:pt x="941480" y="2984691"/>
                  </a:lnTo>
                  <a:lnTo>
                    <a:pt x="1144680" y="0"/>
                  </a:lnTo>
                  <a:lnTo>
                    <a:pt x="0" y="0"/>
                  </a:lnTo>
                  <a:lnTo>
                    <a:pt x="203200" y="2984691"/>
                  </a:lnTo>
                  <a:close/>
                </a:path>
              </a:pathLst>
            </a:custGeom>
            <a:solidFill>
              <a:srgbClr val="9EA2C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-76200"/>
              <a:ext cx="890680" cy="3060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221966">
            <a:off x="16290572" y="51881"/>
            <a:ext cx="4300384" cy="11285430"/>
            <a:chOff x="0" y="0"/>
            <a:chExt cx="1132611" cy="29722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2611" cy="2972295"/>
            </a:xfrm>
            <a:custGeom>
              <a:avLst/>
              <a:gdLst/>
              <a:ahLst/>
              <a:cxnLst/>
              <a:rect r="r" b="b" t="t" l="l"/>
              <a:pathLst>
                <a:path h="2972295" w="1132611">
                  <a:moveTo>
                    <a:pt x="203200" y="2972295"/>
                  </a:moveTo>
                  <a:lnTo>
                    <a:pt x="929411" y="2972295"/>
                  </a:lnTo>
                  <a:lnTo>
                    <a:pt x="1132611" y="0"/>
                  </a:lnTo>
                  <a:lnTo>
                    <a:pt x="0" y="0"/>
                  </a:lnTo>
                  <a:lnTo>
                    <a:pt x="203200" y="2972295"/>
                  </a:lnTo>
                  <a:close/>
                </a:path>
              </a:pathLst>
            </a:custGeom>
            <a:solidFill>
              <a:srgbClr val="F9869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7000" y="-76200"/>
              <a:ext cx="878611" cy="3048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979776" y="4193844"/>
            <a:ext cx="4218173" cy="1391517"/>
            <a:chOff x="0" y="0"/>
            <a:chExt cx="5624230" cy="1855356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581025"/>
              <a:ext cx="1933046" cy="24363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7191"/>
                </a:lnSpc>
                <a:spcBef>
                  <a:spcPct val="0"/>
                </a:spcBef>
              </a:pPr>
              <a:r>
                <a:rPr lang="en-US" b="true" sz="9144">
                  <a:solidFill>
                    <a:srgbClr val="FC4561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02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100549" y="241165"/>
              <a:ext cx="3523681" cy="1106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56"/>
                </a:lnSpc>
                <a:spcBef>
                  <a:spcPct val="0"/>
                </a:spcBef>
              </a:pPr>
              <a:r>
                <a:rPr lang="en-US" b="true" sz="4178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시스템 구현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407623" y="4193844"/>
            <a:ext cx="3795725" cy="1391517"/>
            <a:chOff x="0" y="0"/>
            <a:chExt cx="5060967" cy="1855356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581025"/>
              <a:ext cx="1991242" cy="24363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7191"/>
                </a:lnSpc>
                <a:spcBef>
                  <a:spcPct val="0"/>
                </a:spcBef>
              </a:pPr>
              <a:r>
                <a:rPr lang="en-US" b="true" sz="9144">
                  <a:solidFill>
                    <a:srgbClr val="FC4561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03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100549" y="241189"/>
              <a:ext cx="2960418" cy="1106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56"/>
                </a:lnSpc>
                <a:spcBef>
                  <a:spcPct val="0"/>
                </a:spcBef>
              </a:pPr>
              <a:r>
                <a:rPr lang="en-US" b="true" sz="4178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결과 확인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918459" y="5662830"/>
            <a:ext cx="2102120" cy="85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520"/>
              </a:lnSpc>
              <a:buFont typeface="Arial"/>
              <a:buChar char="•"/>
            </a:pPr>
            <a:r>
              <a:rPr lang="en-US" sz="2200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LangSmith</a:t>
            </a:r>
          </a:p>
          <a:p>
            <a:pPr algn="l" marL="474981" indent="-237491" lvl="1">
              <a:lnSpc>
                <a:spcPts val="352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Streamlit UI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438520" y="5748555"/>
            <a:ext cx="3144260" cy="1205338"/>
            <a:chOff x="0" y="0"/>
            <a:chExt cx="4192347" cy="1607117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85725"/>
              <a:ext cx="4192347" cy="520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81" indent="-237491" lvl="1">
                <a:lnSpc>
                  <a:spcPts val="35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00" spc="-44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리뷰 분석 Agent : 평점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498523"/>
              <a:ext cx="3997070" cy="520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81" indent="-237491" lvl="1">
                <a:lnSpc>
                  <a:spcPts val="35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00" spc="-44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저평점 피드백 Agent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086157"/>
              <a:ext cx="4192347" cy="520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81" indent="-237491" lvl="1">
                <a:lnSpc>
                  <a:spcPts val="35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00" spc="-44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Batch (동기 vs 비동기)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7118360" y="929045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84794" y="5718710"/>
            <a:ext cx="2221969" cy="41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52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프로젝트 개요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09738" y="3529548"/>
            <a:ext cx="3086141" cy="128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210"/>
              </a:lnSpc>
              <a:spcBef>
                <a:spcPct val="0"/>
              </a:spcBef>
            </a:pPr>
            <a:r>
              <a:rPr lang="en-US" b="true" sz="5963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문제 정의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12404" y="3088259"/>
            <a:ext cx="1895885" cy="265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10"/>
              </a:lnSpc>
              <a:spcBef>
                <a:spcPct val="0"/>
              </a:spcBef>
            </a:pPr>
            <a:r>
              <a:rPr lang="en-US" b="true" sz="12186">
                <a:solidFill>
                  <a:srgbClr val="FC456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01</a:t>
            </a:r>
          </a:p>
        </p:txBody>
      </p:sp>
      <p:grpSp>
        <p:nvGrpSpPr>
          <p:cNvPr name="Group 4" id="4"/>
          <p:cNvGrpSpPr/>
          <p:nvPr/>
        </p:nvGrpSpPr>
        <p:grpSpPr>
          <a:xfrm rot="-10197375">
            <a:off x="15918320" y="63773"/>
            <a:ext cx="4346206" cy="11332498"/>
            <a:chOff x="0" y="0"/>
            <a:chExt cx="1144680" cy="29846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4680" cy="2984691"/>
            </a:xfrm>
            <a:custGeom>
              <a:avLst/>
              <a:gdLst/>
              <a:ahLst/>
              <a:cxnLst/>
              <a:rect r="r" b="b" t="t" l="l"/>
              <a:pathLst>
                <a:path h="2984691" w="1144680">
                  <a:moveTo>
                    <a:pt x="203200" y="2984691"/>
                  </a:moveTo>
                  <a:lnTo>
                    <a:pt x="941480" y="2984691"/>
                  </a:lnTo>
                  <a:lnTo>
                    <a:pt x="1144680" y="0"/>
                  </a:lnTo>
                  <a:lnTo>
                    <a:pt x="0" y="0"/>
                  </a:lnTo>
                  <a:lnTo>
                    <a:pt x="203200" y="2984691"/>
                  </a:lnTo>
                  <a:close/>
                </a:path>
              </a:pathLst>
            </a:custGeom>
            <a:solidFill>
              <a:srgbClr val="9EA2C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27000" y="-76200"/>
              <a:ext cx="890680" cy="3060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10221966">
            <a:off x="16290572" y="51881"/>
            <a:ext cx="4300384" cy="11285430"/>
            <a:chOff x="0" y="0"/>
            <a:chExt cx="1132611" cy="29722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2611" cy="2972295"/>
            </a:xfrm>
            <a:custGeom>
              <a:avLst/>
              <a:gdLst/>
              <a:ahLst/>
              <a:cxnLst/>
              <a:rect r="r" b="b" t="t" l="l"/>
              <a:pathLst>
                <a:path h="2972295" w="1132611">
                  <a:moveTo>
                    <a:pt x="203200" y="2972295"/>
                  </a:moveTo>
                  <a:lnTo>
                    <a:pt x="929411" y="2972295"/>
                  </a:lnTo>
                  <a:lnTo>
                    <a:pt x="1132611" y="0"/>
                  </a:lnTo>
                  <a:lnTo>
                    <a:pt x="0" y="0"/>
                  </a:lnTo>
                  <a:lnTo>
                    <a:pt x="203200" y="2972295"/>
                  </a:lnTo>
                  <a:close/>
                </a:path>
              </a:pathLst>
            </a:custGeom>
            <a:solidFill>
              <a:srgbClr val="F9869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7000" y="-76200"/>
              <a:ext cx="878611" cy="3048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>
            <a:off x="3709738" y="5124450"/>
            <a:ext cx="1235251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3709738" y="5324475"/>
            <a:ext cx="2295051" cy="524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2799" spc="-55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• 프로젝트 개요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118360" y="929045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18256"/>
            <a:ext cx="18288000" cy="268744"/>
            <a:chOff x="0" y="0"/>
            <a:chExt cx="4816593" cy="70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0780"/>
            </a:xfrm>
            <a:custGeom>
              <a:avLst/>
              <a:gdLst/>
              <a:ahLst/>
              <a:cxnLst/>
              <a:rect r="r" b="b" t="t" l="l"/>
              <a:pathLst>
                <a:path h="7078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0780"/>
                  </a:lnTo>
                  <a:lnTo>
                    <a:pt x="0" y="70780"/>
                  </a:lnTo>
                  <a:close/>
                </a:path>
              </a:pathLst>
            </a:custGeom>
            <a:solidFill>
              <a:srgbClr val="FC456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108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91933" y="3717500"/>
            <a:ext cx="6089027" cy="1862085"/>
            <a:chOff x="0" y="0"/>
            <a:chExt cx="8118703" cy="248278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548195"/>
              <a:ext cx="1735564" cy="1742155"/>
              <a:chOff x="0" y="0"/>
              <a:chExt cx="533495" cy="53555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533495" cy="535559"/>
              </a:xfrm>
              <a:custGeom>
                <a:avLst/>
                <a:gdLst/>
                <a:ahLst/>
                <a:cxnLst/>
                <a:rect r="r" b="b" t="t" l="l"/>
                <a:pathLst>
                  <a:path h="535559" w="533495">
                    <a:moveTo>
                      <a:pt x="533495" y="266747"/>
                    </a:moveTo>
                    <a:lnTo>
                      <a:pt x="533495" y="268812"/>
                    </a:lnTo>
                    <a:cubicBezTo>
                      <a:pt x="533495" y="339557"/>
                      <a:pt x="505391" y="407406"/>
                      <a:pt x="455366" y="457431"/>
                    </a:cubicBezTo>
                    <a:cubicBezTo>
                      <a:pt x="405341" y="507455"/>
                      <a:pt x="337493" y="535559"/>
                      <a:pt x="266747" y="535559"/>
                    </a:cubicBezTo>
                    <a:lnTo>
                      <a:pt x="266747" y="535559"/>
                    </a:lnTo>
                    <a:cubicBezTo>
                      <a:pt x="196002" y="535559"/>
                      <a:pt x="128153" y="507455"/>
                      <a:pt x="78128" y="457431"/>
                    </a:cubicBezTo>
                    <a:cubicBezTo>
                      <a:pt x="28104" y="407406"/>
                      <a:pt x="0" y="339557"/>
                      <a:pt x="0" y="268812"/>
                    </a:cubicBezTo>
                    <a:lnTo>
                      <a:pt x="0" y="266747"/>
                    </a:lnTo>
                    <a:cubicBezTo>
                      <a:pt x="0" y="196002"/>
                      <a:pt x="28104" y="128153"/>
                      <a:pt x="78128" y="78128"/>
                    </a:cubicBezTo>
                    <a:cubicBezTo>
                      <a:pt x="128153" y="28104"/>
                      <a:pt x="196002" y="0"/>
                      <a:pt x="266747" y="0"/>
                    </a:cubicBezTo>
                    <a:lnTo>
                      <a:pt x="266747" y="0"/>
                    </a:lnTo>
                    <a:cubicBezTo>
                      <a:pt x="414068" y="0"/>
                      <a:pt x="533495" y="119427"/>
                      <a:pt x="533495" y="266747"/>
                    </a:cubicBezTo>
                    <a:close/>
                  </a:path>
                </a:pathLst>
              </a:custGeom>
              <a:solidFill>
                <a:srgbClr val="FC45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533495" cy="611759"/>
              </a:xfrm>
              <a:prstGeom prst="rect">
                <a:avLst/>
              </a:prstGeom>
            </p:spPr>
            <p:txBody>
              <a:bodyPr anchor="ctr" rtlCol="false" tIns="43030" lIns="43030" bIns="43030" rIns="43030"/>
              <a:lstStyle/>
              <a:p>
                <a:pPr algn="ctr">
                  <a:lnSpc>
                    <a:spcPts val="3200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263788" y="815278"/>
              <a:ext cx="1207988" cy="1207988"/>
            </a:xfrm>
            <a:custGeom>
              <a:avLst/>
              <a:gdLst/>
              <a:ahLst/>
              <a:cxnLst/>
              <a:rect r="r" b="b" t="t" l="l"/>
              <a:pathLst>
                <a:path h="1207988" w="1207988">
                  <a:moveTo>
                    <a:pt x="0" y="0"/>
                  </a:moveTo>
                  <a:lnTo>
                    <a:pt x="1207988" y="0"/>
                  </a:lnTo>
                  <a:lnTo>
                    <a:pt x="1207988" y="1207988"/>
                  </a:lnTo>
                  <a:lnTo>
                    <a:pt x="0" y="1207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2408664" y="633836"/>
              <a:ext cx="5710039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속성별 만족 요인 파악 불가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2408664" y="1475295"/>
              <a:ext cx="5710039" cy="10074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>
                      <a:alpha val="60000"/>
                    </a:srgbClr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Aspect</a:t>
              </a:r>
              <a:r>
                <a:rPr lang="en-US" sz="2000" strike="noStrike" u="none">
                  <a:solidFill>
                    <a:srgbClr val="000000">
                      <a:alpha val="60000"/>
                    </a:srgbClr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기반 감성 분석을 통해</a:t>
              </a:r>
            </a:p>
            <a:p>
              <a:pPr algn="l" marL="0" indent="0" lvl="0">
                <a:lnSpc>
                  <a:spcPts val="32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000000">
                      <a:alpha val="60000"/>
                    </a:srgbClr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보습, 향, 가격 등 속성별 감정 분리 분석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408664" y="-76200"/>
              <a:ext cx="4115594" cy="4741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CC0000">
                      <a:alpha val="60000"/>
                    </a:srgbClr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① 단순 긍·부정 분석의 한계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19123" y="3717500"/>
            <a:ext cx="6307261" cy="1862121"/>
            <a:chOff x="0" y="0"/>
            <a:chExt cx="8409681" cy="2482828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1592667" y="1626166"/>
              <a:ext cx="0" cy="4741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00"/>
                </a:lnSpc>
                <a:spcBef>
                  <a:spcPct val="0"/>
                </a:spcBef>
              </a:pP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0" y="548195"/>
              <a:ext cx="1735564" cy="1742155"/>
              <a:chOff x="0" y="0"/>
              <a:chExt cx="533495" cy="53555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33495" cy="535559"/>
              </a:xfrm>
              <a:custGeom>
                <a:avLst/>
                <a:gdLst/>
                <a:ahLst/>
                <a:cxnLst/>
                <a:rect r="r" b="b" t="t" l="l"/>
                <a:pathLst>
                  <a:path h="535559" w="533495">
                    <a:moveTo>
                      <a:pt x="533495" y="266747"/>
                    </a:moveTo>
                    <a:lnTo>
                      <a:pt x="533495" y="268812"/>
                    </a:lnTo>
                    <a:cubicBezTo>
                      <a:pt x="533495" y="339557"/>
                      <a:pt x="505391" y="407406"/>
                      <a:pt x="455366" y="457431"/>
                    </a:cubicBezTo>
                    <a:cubicBezTo>
                      <a:pt x="405341" y="507455"/>
                      <a:pt x="337493" y="535559"/>
                      <a:pt x="266747" y="535559"/>
                    </a:cubicBezTo>
                    <a:lnTo>
                      <a:pt x="266747" y="535559"/>
                    </a:lnTo>
                    <a:cubicBezTo>
                      <a:pt x="196002" y="535559"/>
                      <a:pt x="128153" y="507455"/>
                      <a:pt x="78128" y="457431"/>
                    </a:cubicBezTo>
                    <a:cubicBezTo>
                      <a:pt x="28104" y="407406"/>
                      <a:pt x="0" y="339557"/>
                      <a:pt x="0" y="268812"/>
                    </a:cubicBezTo>
                    <a:lnTo>
                      <a:pt x="0" y="266747"/>
                    </a:lnTo>
                    <a:cubicBezTo>
                      <a:pt x="0" y="196002"/>
                      <a:pt x="28104" y="128153"/>
                      <a:pt x="78128" y="78128"/>
                    </a:cubicBezTo>
                    <a:cubicBezTo>
                      <a:pt x="128153" y="28104"/>
                      <a:pt x="196002" y="0"/>
                      <a:pt x="266747" y="0"/>
                    </a:cubicBezTo>
                    <a:lnTo>
                      <a:pt x="266747" y="0"/>
                    </a:lnTo>
                    <a:cubicBezTo>
                      <a:pt x="414068" y="0"/>
                      <a:pt x="533495" y="119427"/>
                      <a:pt x="533495" y="266747"/>
                    </a:cubicBezTo>
                    <a:close/>
                  </a:path>
                </a:pathLst>
              </a:custGeom>
              <a:solidFill>
                <a:srgbClr val="FC4561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76200"/>
                <a:ext cx="533495" cy="611759"/>
              </a:xfrm>
              <a:prstGeom prst="rect">
                <a:avLst/>
              </a:prstGeom>
            </p:spPr>
            <p:txBody>
              <a:bodyPr anchor="ctr" rtlCol="false" tIns="43030" lIns="43030" bIns="43030" rIns="43030"/>
              <a:lstStyle/>
              <a:p>
                <a:pPr algn="ctr">
                  <a:lnSpc>
                    <a:spcPts val="3200"/>
                  </a:lnSpc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314600" y="690986"/>
              <a:ext cx="1106364" cy="1421730"/>
            </a:xfrm>
            <a:custGeom>
              <a:avLst/>
              <a:gdLst/>
              <a:ahLst/>
              <a:cxnLst/>
              <a:rect r="r" b="b" t="t" l="l"/>
              <a:pathLst>
                <a:path h="1421730" w="1106364">
                  <a:moveTo>
                    <a:pt x="0" y="0"/>
                  </a:moveTo>
                  <a:lnTo>
                    <a:pt x="1106364" y="0"/>
                  </a:lnTo>
                  <a:lnTo>
                    <a:pt x="1106364" y="1421729"/>
                  </a:lnTo>
                  <a:lnTo>
                    <a:pt x="0" y="1421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2408664" y="633836"/>
              <a:ext cx="6001018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분석 시간 및 관리 비용 증가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408664" y="1475295"/>
              <a:ext cx="5710039" cy="1007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0"/>
                </a:lnSpc>
              </a:pPr>
              <a:r>
                <a:rPr lang="en-US" sz="2000">
                  <a:solidFill>
                    <a:srgbClr val="000000">
                      <a:alpha val="60000"/>
                    </a:srgbClr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LangGraph 기반 Agent 자동화를 통해</a:t>
              </a:r>
            </a:p>
            <a:p>
              <a:pPr algn="l" marL="0" indent="0" lvl="0">
                <a:lnSpc>
                  <a:spcPts val="32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>
                      <a:alpha val="60000"/>
                    </a:srgbClr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리뷰</a:t>
              </a:r>
              <a:r>
                <a:rPr lang="en-US" sz="2000" strike="noStrike" u="none">
                  <a:solidFill>
                    <a:srgbClr val="000000">
                      <a:alpha val="60000"/>
                    </a:srgbClr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분석 프로세스 자동 처리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408664" y="-76200"/>
              <a:ext cx="4348377" cy="4741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CC0000">
                      <a:alpha val="60000"/>
                    </a:srgbClr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② 수작업 리뷰 분석의 비효율 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88582" y="1253002"/>
            <a:ext cx="2577852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프로젝트 개요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8582" y="636182"/>
            <a:ext cx="195768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C456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01</a:t>
            </a:r>
            <a:r>
              <a:rPr lang="en-US" b="true" sz="300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문제정의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248168" y="2231377"/>
            <a:ext cx="11698635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고객 리뷰 수집부터 속성별 감성 분석과 대시보드 제공까지, AI Agent로 자동화할 수 있을까?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767425" y="6606640"/>
            <a:ext cx="6089027" cy="1862085"/>
            <a:chOff x="0" y="0"/>
            <a:chExt cx="8118703" cy="248278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548195"/>
              <a:ext cx="1735564" cy="1742155"/>
              <a:chOff x="0" y="0"/>
              <a:chExt cx="533495" cy="535559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533495" cy="535559"/>
              </a:xfrm>
              <a:custGeom>
                <a:avLst/>
                <a:gdLst/>
                <a:ahLst/>
                <a:cxnLst/>
                <a:rect r="r" b="b" t="t" l="l"/>
                <a:pathLst>
                  <a:path h="535559" w="533495">
                    <a:moveTo>
                      <a:pt x="533495" y="266747"/>
                    </a:moveTo>
                    <a:lnTo>
                      <a:pt x="533495" y="268812"/>
                    </a:lnTo>
                    <a:cubicBezTo>
                      <a:pt x="533495" y="339557"/>
                      <a:pt x="505391" y="407406"/>
                      <a:pt x="455366" y="457431"/>
                    </a:cubicBezTo>
                    <a:cubicBezTo>
                      <a:pt x="405341" y="507455"/>
                      <a:pt x="337493" y="535559"/>
                      <a:pt x="266747" y="535559"/>
                    </a:cubicBezTo>
                    <a:lnTo>
                      <a:pt x="266747" y="535559"/>
                    </a:lnTo>
                    <a:cubicBezTo>
                      <a:pt x="196002" y="535559"/>
                      <a:pt x="128153" y="507455"/>
                      <a:pt x="78128" y="457431"/>
                    </a:cubicBezTo>
                    <a:cubicBezTo>
                      <a:pt x="28104" y="407406"/>
                      <a:pt x="0" y="339557"/>
                      <a:pt x="0" y="268812"/>
                    </a:cubicBezTo>
                    <a:lnTo>
                      <a:pt x="0" y="266747"/>
                    </a:lnTo>
                    <a:cubicBezTo>
                      <a:pt x="0" y="196002"/>
                      <a:pt x="28104" y="128153"/>
                      <a:pt x="78128" y="78128"/>
                    </a:cubicBezTo>
                    <a:cubicBezTo>
                      <a:pt x="128153" y="28104"/>
                      <a:pt x="196002" y="0"/>
                      <a:pt x="266747" y="0"/>
                    </a:cubicBezTo>
                    <a:lnTo>
                      <a:pt x="266747" y="0"/>
                    </a:lnTo>
                    <a:cubicBezTo>
                      <a:pt x="414068" y="0"/>
                      <a:pt x="533495" y="119427"/>
                      <a:pt x="533495" y="266747"/>
                    </a:cubicBezTo>
                    <a:close/>
                  </a:path>
                </a:pathLst>
              </a:custGeom>
              <a:solidFill>
                <a:srgbClr val="FC4561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76200"/>
                <a:ext cx="533495" cy="611759"/>
              </a:xfrm>
              <a:prstGeom prst="rect">
                <a:avLst/>
              </a:prstGeom>
            </p:spPr>
            <p:txBody>
              <a:bodyPr anchor="ctr" rtlCol="false" tIns="43030" lIns="43030" bIns="43030" rIns="43030"/>
              <a:lstStyle/>
              <a:p>
                <a:pPr algn="ctr">
                  <a:lnSpc>
                    <a:spcPts val="3200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383865" y="770537"/>
              <a:ext cx="967834" cy="1246625"/>
            </a:xfrm>
            <a:custGeom>
              <a:avLst/>
              <a:gdLst/>
              <a:ahLst/>
              <a:cxnLst/>
              <a:rect r="r" b="b" t="t" l="l"/>
              <a:pathLst>
                <a:path h="1246625" w="967834">
                  <a:moveTo>
                    <a:pt x="0" y="0"/>
                  </a:moveTo>
                  <a:lnTo>
                    <a:pt x="967834" y="0"/>
                  </a:lnTo>
                  <a:lnTo>
                    <a:pt x="967834" y="1246624"/>
                  </a:lnTo>
                  <a:lnTo>
                    <a:pt x="0" y="1246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2408664" y="1475295"/>
              <a:ext cx="5327036" cy="10074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>
                      <a:alpha val="60000"/>
                    </a:srgbClr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LLM 기반 리뷰</a:t>
              </a:r>
              <a:r>
                <a:rPr lang="en-US" sz="2000" strike="noStrike" u="none">
                  <a:solidFill>
                    <a:srgbClr val="000000">
                      <a:alpha val="60000"/>
                    </a:srgbClr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구조화를 통해</a:t>
              </a:r>
            </a:p>
            <a:p>
              <a:pPr algn="l" marL="0" indent="0" lvl="0">
                <a:lnSpc>
                  <a:spcPts val="32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000000">
                      <a:alpha val="60000"/>
                    </a:srgbClr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정형 데이터 형태로 저장 및 관리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2408664" y="-76200"/>
              <a:ext cx="4115594" cy="4741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CC0000">
                      <a:alpha val="60000"/>
                    </a:srgbClr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③</a:t>
              </a:r>
              <a:r>
                <a:rPr lang="en-US" sz="2000">
                  <a:solidFill>
                    <a:srgbClr val="CC0000">
                      <a:alpha val="60000"/>
                    </a:srgbClr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비정형 데이터 처리 한계 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2408664" y="633836"/>
              <a:ext cx="5710039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일관된 분석 및 활용 어려움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819123" y="6606640"/>
            <a:ext cx="6089027" cy="1862121"/>
            <a:chOff x="0" y="0"/>
            <a:chExt cx="8118703" cy="2482828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548195"/>
              <a:ext cx="1735564" cy="1742155"/>
              <a:chOff x="0" y="0"/>
              <a:chExt cx="533495" cy="535559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533495" cy="535559"/>
              </a:xfrm>
              <a:custGeom>
                <a:avLst/>
                <a:gdLst/>
                <a:ahLst/>
                <a:cxnLst/>
                <a:rect r="r" b="b" t="t" l="l"/>
                <a:pathLst>
                  <a:path h="535559" w="533495">
                    <a:moveTo>
                      <a:pt x="533495" y="266747"/>
                    </a:moveTo>
                    <a:lnTo>
                      <a:pt x="533495" y="268812"/>
                    </a:lnTo>
                    <a:cubicBezTo>
                      <a:pt x="533495" y="339557"/>
                      <a:pt x="505391" y="407406"/>
                      <a:pt x="455366" y="457431"/>
                    </a:cubicBezTo>
                    <a:cubicBezTo>
                      <a:pt x="405341" y="507455"/>
                      <a:pt x="337493" y="535559"/>
                      <a:pt x="266747" y="535559"/>
                    </a:cubicBezTo>
                    <a:lnTo>
                      <a:pt x="266747" y="535559"/>
                    </a:lnTo>
                    <a:cubicBezTo>
                      <a:pt x="196002" y="535559"/>
                      <a:pt x="128153" y="507455"/>
                      <a:pt x="78128" y="457431"/>
                    </a:cubicBezTo>
                    <a:cubicBezTo>
                      <a:pt x="28104" y="407406"/>
                      <a:pt x="0" y="339557"/>
                      <a:pt x="0" y="268812"/>
                    </a:cubicBezTo>
                    <a:lnTo>
                      <a:pt x="0" y="266747"/>
                    </a:lnTo>
                    <a:cubicBezTo>
                      <a:pt x="0" y="196002"/>
                      <a:pt x="28104" y="128153"/>
                      <a:pt x="78128" y="78128"/>
                    </a:cubicBezTo>
                    <a:cubicBezTo>
                      <a:pt x="128153" y="28104"/>
                      <a:pt x="196002" y="0"/>
                      <a:pt x="266747" y="0"/>
                    </a:cubicBezTo>
                    <a:lnTo>
                      <a:pt x="266747" y="0"/>
                    </a:lnTo>
                    <a:cubicBezTo>
                      <a:pt x="414068" y="0"/>
                      <a:pt x="533495" y="119427"/>
                      <a:pt x="533495" y="266747"/>
                    </a:cubicBezTo>
                    <a:close/>
                  </a:path>
                </a:pathLst>
              </a:custGeom>
              <a:solidFill>
                <a:srgbClr val="FC4561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76200"/>
                <a:ext cx="533495" cy="611759"/>
              </a:xfrm>
              <a:prstGeom prst="rect">
                <a:avLst/>
              </a:prstGeom>
            </p:spPr>
            <p:txBody>
              <a:bodyPr anchor="ctr" rtlCol="false" tIns="43030" lIns="43030" bIns="43030" rIns="43030"/>
              <a:lstStyle/>
              <a:p>
                <a:pPr algn="ctr">
                  <a:lnSpc>
                    <a:spcPts val="3200"/>
                  </a:lnSpc>
                </a:pPr>
              </a:p>
            </p:txBody>
          </p:sp>
        </p:grpSp>
        <p:sp>
          <p:nvSpPr>
            <p:cNvPr name="Freeform 37" id="37"/>
            <p:cNvSpPr/>
            <p:nvPr/>
          </p:nvSpPr>
          <p:spPr>
            <a:xfrm flipH="false" flipV="false" rot="0">
              <a:off x="383865" y="770537"/>
              <a:ext cx="967834" cy="1246625"/>
            </a:xfrm>
            <a:custGeom>
              <a:avLst/>
              <a:gdLst/>
              <a:ahLst/>
              <a:cxnLst/>
              <a:rect r="r" b="b" t="t" l="l"/>
              <a:pathLst>
                <a:path h="1246625" w="967834">
                  <a:moveTo>
                    <a:pt x="0" y="0"/>
                  </a:moveTo>
                  <a:lnTo>
                    <a:pt x="967834" y="0"/>
                  </a:lnTo>
                  <a:lnTo>
                    <a:pt x="967834" y="1246624"/>
                  </a:lnTo>
                  <a:lnTo>
                    <a:pt x="0" y="1246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2408664" y="1475295"/>
              <a:ext cx="5710039" cy="1007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>
                      <a:alpha val="60000"/>
                    </a:srgbClr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Streamlit Dashboard를</a:t>
              </a:r>
              <a:r>
                <a:rPr lang="en-US" sz="2000" strike="noStrike" u="none">
                  <a:solidFill>
                    <a:srgbClr val="000000">
                      <a:alpha val="60000"/>
                    </a:srgbClr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통해</a:t>
              </a:r>
            </a:p>
            <a:p>
              <a:pPr algn="l" marL="0" indent="0" lvl="0">
                <a:lnSpc>
                  <a:spcPts val="32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000000">
                      <a:alpha val="60000"/>
                    </a:srgbClr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리뷰 분석 결과 시각화 및 모니터링 지원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2408664" y="-76200"/>
              <a:ext cx="3533637" cy="4741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CC0000">
                      <a:alpha val="60000"/>
                    </a:srgbClr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④ 리뷰</a:t>
              </a:r>
              <a:r>
                <a:rPr lang="en-US" sz="2000">
                  <a:solidFill>
                    <a:srgbClr val="CC0000">
                      <a:alpha val="60000"/>
                    </a:srgbClr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인사이트 시각화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2408664" y="612764"/>
              <a:ext cx="5215376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제품 개선 인사이트 제공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7118360" y="929045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09738" y="3529548"/>
            <a:ext cx="3849960" cy="128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210"/>
              </a:lnSpc>
              <a:spcBef>
                <a:spcPct val="0"/>
              </a:spcBef>
            </a:pPr>
            <a:r>
              <a:rPr lang="en-US" b="true" sz="5963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시스템 구현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12404" y="3088259"/>
            <a:ext cx="1895885" cy="265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10"/>
              </a:lnSpc>
              <a:spcBef>
                <a:spcPct val="0"/>
              </a:spcBef>
            </a:pPr>
            <a:r>
              <a:rPr lang="en-US" b="true" sz="12186">
                <a:solidFill>
                  <a:srgbClr val="FC456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02</a:t>
            </a:r>
          </a:p>
        </p:txBody>
      </p:sp>
      <p:grpSp>
        <p:nvGrpSpPr>
          <p:cNvPr name="Group 4" id="4"/>
          <p:cNvGrpSpPr/>
          <p:nvPr/>
        </p:nvGrpSpPr>
        <p:grpSpPr>
          <a:xfrm rot="-10197375">
            <a:off x="15918320" y="63773"/>
            <a:ext cx="4346206" cy="11332498"/>
            <a:chOff x="0" y="0"/>
            <a:chExt cx="1144680" cy="29846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4680" cy="2984691"/>
            </a:xfrm>
            <a:custGeom>
              <a:avLst/>
              <a:gdLst/>
              <a:ahLst/>
              <a:cxnLst/>
              <a:rect r="r" b="b" t="t" l="l"/>
              <a:pathLst>
                <a:path h="2984691" w="1144680">
                  <a:moveTo>
                    <a:pt x="203200" y="2984691"/>
                  </a:moveTo>
                  <a:lnTo>
                    <a:pt x="941480" y="2984691"/>
                  </a:lnTo>
                  <a:lnTo>
                    <a:pt x="1144680" y="0"/>
                  </a:lnTo>
                  <a:lnTo>
                    <a:pt x="0" y="0"/>
                  </a:lnTo>
                  <a:lnTo>
                    <a:pt x="203200" y="2984691"/>
                  </a:lnTo>
                  <a:close/>
                </a:path>
              </a:pathLst>
            </a:custGeom>
            <a:solidFill>
              <a:srgbClr val="9EA2C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27000" y="-76200"/>
              <a:ext cx="890680" cy="3060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10221966">
            <a:off x="16290572" y="51881"/>
            <a:ext cx="4300384" cy="11285430"/>
            <a:chOff x="0" y="0"/>
            <a:chExt cx="1132611" cy="29722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2611" cy="2972295"/>
            </a:xfrm>
            <a:custGeom>
              <a:avLst/>
              <a:gdLst/>
              <a:ahLst/>
              <a:cxnLst/>
              <a:rect r="r" b="b" t="t" l="l"/>
              <a:pathLst>
                <a:path h="2972295" w="1132611">
                  <a:moveTo>
                    <a:pt x="203200" y="2972295"/>
                  </a:moveTo>
                  <a:lnTo>
                    <a:pt x="929411" y="2972295"/>
                  </a:lnTo>
                  <a:lnTo>
                    <a:pt x="1132611" y="0"/>
                  </a:lnTo>
                  <a:lnTo>
                    <a:pt x="0" y="0"/>
                  </a:lnTo>
                  <a:lnTo>
                    <a:pt x="203200" y="2972295"/>
                  </a:lnTo>
                  <a:close/>
                </a:path>
              </a:pathLst>
            </a:custGeom>
            <a:solidFill>
              <a:srgbClr val="F9869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7000" y="-76200"/>
              <a:ext cx="878611" cy="3048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>
            <a:off x="3709738" y="5124450"/>
            <a:ext cx="1235251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3709738" y="5429250"/>
            <a:ext cx="6725572" cy="1656717"/>
            <a:chOff x="0" y="0"/>
            <a:chExt cx="8967429" cy="220895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104775"/>
              <a:ext cx="8967429" cy="664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8" indent="-302259" lvl="1">
                <a:lnSpc>
                  <a:spcPts val="44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799" spc="-55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리뷰 분석 Agent : 평점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719879"/>
              <a:ext cx="6969693" cy="664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8" indent="-302259" lvl="1">
                <a:lnSpc>
                  <a:spcPts val="44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799" spc="-55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저평점 피드백 Agent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544533"/>
              <a:ext cx="7894621" cy="664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8" indent="-302259" lvl="1">
                <a:lnSpc>
                  <a:spcPts val="44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799" spc="-55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Batch 처리 (동기 vs 비동기)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7118360" y="929045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8582" y="636182"/>
            <a:ext cx="241488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C456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02</a:t>
            </a:r>
            <a:r>
              <a:rPr lang="en-US" b="true" sz="300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시스템 구현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10018256"/>
            <a:ext cx="18288000" cy="268744"/>
            <a:chOff x="0" y="0"/>
            <a:chExt cx="4816593" cy="707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70780"/>
            </a:xfrm>
            <a:custGeom>
              <a:avLst/>
              <a:gdLst/>
              <a:ahLst/>
              <a:cxnLst/>
              <a:rect r="r" b="b" t="t" l="l"/>
              <a:pathLst>
                <a:path h="7078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0780"/>
                  </a:lnTo>
                  <a:lnTo>
                    <a:pt x="0" y="70780"/>
                  </a:lnTo>
                  <a:close/>
                </a:path>
              </a:pathLst>
            </a:custGeom>
            <a:solidFill>
              <a:srgbClr val="FC456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108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64298" y="1504227"/>
            <a:ext cx="3220490" cy="49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spc="-66" b="true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고도화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118360" y="929045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6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2959117"/>
            <a:ext cx="16230600" cy="6299183"/>
            <a:chOff x="0" y="0"/>
            <a:chExt cx="21640800" cy="839891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14771554" y="0"/>
              <a:ext cx="6869246" cy="8398910"/>
              <a:chOff x="0" y="0"/>
              <a:chExt cx="1356888" cy="165904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56888" cy="1659044"/>
              </a:xfrm>
              <a:custGeom>
                <a:avLst/>
                <a:gdLst/>
                <a:ahLst/>
                <a:cxnLst/>
                <a:rect r="r" b="b" t="t" l="l"/>
                <a:pathLst>
                  <a:path h="1659044" w="1356888">
                    <a:moveTo>
                      <a:pt x="0" y="0"/>
                    </a:moveTo>
                    <a:lnTo>
                      <a:pt x="1356888" y="0"/>
                    </a:lnTo>
                    <a:lnTo>
                      <a:pt x="1356888" y="1659044"/>
                    </a:lnTo>
                    <a:lnTo>
                      <a:pt x="0" y="1659044"/>
                    </a:lnTo>
                    <a:close/>
                  </a:path>
                </a:pathLst>
              </a:custGeom>
              <a:ln w="9525" cap="sq">
                <a:solidFill>
                  <a:srgbClr val="000000">
                    <a:alpha val="40000"/>
                  </a:srgbClr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1356888" cy="17352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2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12" id="12"/>
            <p:cNvSpPr/>
            <p:nvPr/>
          </p:nvSpPr>
          <p:spPr>
            <a:xfrm>
              <a:off x="15429879" y="3389390"/>
              <a:ext cx="5552596" cy="0"/>
            </a:xfrm>
            <a:prstGeom prst="line">
              <a:avLst/>
            </a:prstGeom>
            <a:ln cap="flat" w="50800">
              <a:solidFill>
                <a:srgbClr val="FC456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3" id="13"/>
            <p:cNvSpPr txBox="true"/>
            <p:nvPr/>
          </p:nvSpPr>
          <p:spPr>
            <a:xfrm rot="0">
              <a:off x="16528323" y="1816642"/>
              <a:ext cx="3549518" cy="1387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Batch 처리</a:t>
              </a:r>
            </a:p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(동기 vs 비동기)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7956791" y="722666"/>
              <a:ext cx="498773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000"/>
                </a:lnSpc>
                <a:spcBef>
                  <a:spcPct val="0"/>
                </a:spcBef>
              </a:pPr>
              <a:r>
                <a:rPr lang="en-US" b="true" sz="5000">
                  <a:solidFill>
                    <a:srgbClr val="FC4561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3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5795882" y="4444135"/>
              <a:ext cx="5014399" cy="11051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19"/>
                </a:lnSpc>
              </a:pPr>
              <a:r>
                <a:rPr lang="en-US" sz="2199" b="true">
                  <a:solidFill>
                    <a:srgbClr val="000000">
                      <a:alpha val="60000"/>
                    </a:srgbClr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동기 방식  : 하나씩 순서대로</a:t>
              </a:r>
            </a:p>
            <a:p>
              <a:pPr algn="ctr" marL="0" indent="0" lvl="0">
                <a:lnSpc>
                  <a:spcPts val="351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000000">
                      <a:alpha val="60000"/>
                    </a:srgbClr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비동기 방식 : 동시에 여러 개를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6064981" y="6138104"/>
              <a:ext cx="4476202" cy="6176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59"/>
                </a:lnSpc>
                <a:spcBef>
                  <a:spcPct val="0"/>
                </a:spcBef>
              </a:pPr>
              <a:r>
                <a:rPr lang="en-US" b="true" sz="2599">
                  <a:solidFill>
                    <a:srgbClr val="000000">
                      <a:alpha val="60000"/>
                    </a:srgbClr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약 5.52배 성능 향상!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0"/>
              <a:ext cx="6869246" cy="8398910"/>
              <a:chOff x="0" y="0"/>
              <a:chExt cx="1356888" cy="165904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356888" cy="1659044"/>
              </a:xfrm>
              <a:custGeom>
                <a:avLst/>
                <a:gdLst/>
                <a:ahLst/>
                <a:cxnLst/>
                <a:rect r="r" b="b" t="t" l="l"/>
                <a:pathLst>
                  <a:path h="1659044" w="1356888">
                    <a:moveTo>
                      <a:pt x="0" y="0"/>
                    </a:moveTo>
                    <a:lnTo>
                      <a:pt x="1356888" y="0"/>
                    </a:lnTo>
                    <a:lnTo>
                      <a:pt x="1356888" y="1659044"/>
                    </a:lnTo>
                    <a:lnTo>
                      <a:pt x="0" y="1659044"/>
                    </a:lnTo>
                    <a:close/>
                  </a:path>
                </a:pathLst>
              </a:custGeom>
              <a:ln w="9525" cap="sq">
                <a:solidFill>
                  <a:srgbClr val="000000">
                    <a:alpha val="40000"/>
                  </a:srgbClr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76200"/>
                <a:ext cx="1356888" cy="17352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20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7385777" y="0"/>
              <a:ext cx="6869246" cy="8398910"/>
              <a:chOff x="0" y="0"/>
              <a:chExt cx="1356888" cy="1659044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356888" cy="1659044"/>
              </a:xfrm>
              <a:custGeom>
                <a:avLst/>
                <a:gdLst/>
                <a:ahLst/>
                <a:cxnLst/>
                <a:rect r="r" b="b" t="t" l="l"/>
                <a:pathLst>
                  <a:path h="1659044" w="1356888">
                    <a:moveTo>
                      <a:pt x="0" y="0"/>
                    </a:moveTo>
                    <a:lnTo>
                      <a:pt x="1356888" y="0"/>
                    </a:lnTo>
                    <a:lnTo>
                      <a:pt x="1356888" y="1659044"/>
                    </a:lnTo>
                    <a:lnTo>
                      <a:pt x="0" y="1659044"/>
                    </a:lnTo>
                    <a:close/>
                  </a:path>
                </a:pathLst>
              </a:custGeom>
              <a:ln w="9525" cap="sq">
                <a:solidFill>
                  <a:srgbClr val="000000">
                    <a:alpha val="40000"/>
                  </a:srgbClr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76200"/>
                <a:ext cx="1356888" cy="17352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2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23" id="23"/>
            <p:cNvSpPr/>
            <p:nvPr/>
          </p:nvSpPr>
          <p:spPr>
            <a:xfrm>
              <a:off x="658325" y="3389390"/>
              <a:ext cx="5552596" cy="0"/>
            </a:xfrm>
            <a:prstGeom prst="line">
              <a:avLst/>
            </a:prstGeom>
            <a:ln cap="flat" w="50800">
              <a:solidFill>
                <a:srgbClr val="FC456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4" id="24"/>
            <p:cNvSpPr/>
            <p:nvPr/>
          </p:nvSpPr>
          <p:spPr>
            <a:xfrm>
              <a:off x="8044102" y="3389390"/>
              <a:ext cx="5552596" cy="0"/>
            </a:xfrm>
            <a:prstGeom prst="line">
              <a:avLst/>
            </a:prstGeom>
            <a:ln cap="flat" w="50800">
              <a:solidFill>
                <a:srgbClr val="FC456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5" id="25"/>
            <p:cNvSpPr txBox="true"/>
            <p:nvPr/>
          </p:nvSpPr>
          <p:spPr>
            <a:xfrm rot="0">
              <a:off x="971319" y="2172242"/>
              <a:ext cx="4926608" cy="6763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리뷰 분석 Agent: 평점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9158684" y="2172242"/>
              <a:ext cx="3323431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Router Agent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3185237" y="722666"/>
              <a:ext cx="498773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000"/>
                </a:lnSpc>
                <a:spcBef>
                  <a:spcPct val="0"/>
                </a:spcBef>
              </a:pPr>
              <a:r>
                <a:rPr lang="en-US" b="true" sz="5000">
                  <a:solidFill>
                    <a:srgbClr val="FC4561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1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0571014" y="722666"/>
              <a:ext cx="498773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000"/>
                </a:lnSpc>
                <a:spcBef>
                  <a:spcPct val="0"/>
                </a:spcBef>
              </a:pPr>
              <a:r>
                <a:rPr lang="en-US" b="true" sz="5000">
                  <a:solidFill>
                    <a:srgbClr val="FC4561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2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195075" y="4518642"/>
              <a:ext cx="4476202" cy="11051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19"/>
                </a:lnSpc>
              </a:pPr>
              <a:r>
                <a:rPr lang="en-US" sz="2199" b="true">
                  <a:solidFill>
                    <a:srgbClr val="000000">
                      <a:alpha val="60000"/>
                    </a:srgbClr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정성 데이터의 정량화</a:t>
              </a:r>
            </a:p>
            <a:p>
              <a:pPr algn="ctr" marL="0" indent="0" lvl="0">
                <a:lnSpc>
                  <a:spcPts val="351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000000">
                      <a:alpha val="60000"/>
                    </a:srgbClr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시스템의 우선순위 판단 기준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8582299" y="4518642"/>
              <a:ext cx="4476202" cy="5209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1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000000">
                      <a:alpha val="60000"/>
                    </a:srgbClr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저평점 관련 피드백 Agent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8582299" y="5347529"/>
              <a:ext cx="4476202" cy="1689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19"/>
                </a:lnSpc>
              </a:pPr>
              <a:r>
                <a:rPr lang="en-US" b="true" sz="2199" spc="-43">
                  <a:solidFill>
                    <a:srgbClr val="000000">
                      <a:alpha val="60000"/>
                    </a:srgbClr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리뷰 중 저평점 리뷰 선별하여</a:t>
              </a:r>
            </a:p>
            <a:p>
              <a:pPr algn="ctr">
                <a:lnSpc>
                  <a:spcPts val="3519"/>
                </a:lnSpc>
              </a:pPr>
              <a:r>
                <a:rPr lang="en-US" b="true" sz="2199" spc="-43">
                  <a:solidFill>
                    <a:srgbClr val="000000">
                      <a:alpha val="60000"/>
                    </a:srgbClr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제품 개선 방향을 도출</a:t>
              </a:r>
            </a:p>
            <a:p>
              <a:pPr algn="ctr" marL="0" indent="0" lvl="0">
                <a:lnSpc>
                  <a:spcPts val="351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422313" y="2101244"/>
            <a:ext cx="3643384" cy="3703528"/>
            <a:chOff x="0" y="0"/>
            <a:chExt cx="4857845" cy="49380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57845" cy="4938037"/>
            </a:xfrm>
            <a:custGeom>
              <a:avLst/>
              <a:gdLst/>
              <a:ahLst/>
              <a:cxnLst/>
              <a:rect r="r" b="b" t="t" l="l"/>
              <a:pathLst>
                <a:path h="4938037" w="4857845">
                  <a:moveTo>
                    <a:pt x="0" y="0"/>
                  </a:moveTo>
                  <a:lnTo>
                    <a:pt x="4857845" y="0"/>
                  </a:lnTo>
                  <a:lnTo>
                    <a:pt x="4857845" y="4938037"/>
                  </a:lnTo>
                  <a:lnTo>
                    <a:pt x="0" y="4938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825" t="0" r="-825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281273" y="2308693"/>
              <a:ext cx="3576572" cy="320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18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-10800000">
              <a:off x="1208267" y="2069392"/>
              <a:ext cx="2441310" cy="8659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20"/>
                </a:lnSpc>
              </a:pPr>
              <a:r>
                <a:rPr lang="en-US" sz="1700" b="true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사용자 리뷰 입력 및 </a:t>
              </a:r>
            </a:p>
            <a:p>
              <a:pPr algn="ctr">
                <a:lnSpc>
                  <a:spcPts val="2720"/>
                </a:lnSpc>
                <a:spcBef>
                  <a:spcPct val="0"/>
                </a:spcBef>
              </a:pPr>
              <a:r>
                <a:rPr lang="en-US" b="true" sz="1700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원문 데이터 생성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551061" y="2052846"/>
            <a:ext cx="13929306" cy="6954274"/>
            <a:chOff x="0" y="0"/>
            <a:chExt cx="18572408" cy="9272366"/>
          </a:xfrm>
        </p:grpSpPr>
        <p:sp>
          <p:nvSpPr>
            <p:cNvPr name="AutoShape 7" id="7"/>
            <p:cNvSpPr/>
            <p:nvPr/>
          </p:nvSpPr>
          <p:spPr>
            <a:xfrm>
              <a:off x="899822" y="1613849"/>
              <a:ext cx="2521910" cy="0"/>
            </a:xfrm>
            <a:prstGeom prst="line">
              <a:avLst/>
            </a:prstGeom>
            <a:ln cap="flat" w="50800">
              <a:solidFill>
                <a:srgbClr val="545454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8" id="8"/>
            <p:cNvSpPr/>
            <p:nvPr/>
          </p:nvSpPr>
          <p:spPr>
            <a:xfrm flipV="true">
              <a:off x="912522" y="1613849"/>
              <a:ext cx="0" cy="994369"/>
            </a:xfrm>
            <a:prstGeom prst="line">
              <a:avLst/>
            </a:prstGeom>
            <a:ln cap="flat" w="50800">
              <a:solidFill>
                <a:srgbClr val="54545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 flipH="true">
              <a:off x="0" y="2633617"/>
              <a:ext cx="937922" cy="0"/>
            </a:xfrm>
            <a:prstGeom prst="line">
              <a:avLst/>
            </a:prstGeom>
            <a:ln cap="flat" w="50800">
              <a:solidFill>
                <a:srgbClr val="54545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5999493" y="2901357"/>
              <a:ext cx="0" cy="3995490"/>
            </a:xfrm>
            <a:prstGeom prst="line">
              <a:avLst/>
            </a:prstGeom>
            <a:ln cap="flat" w="50800">
              <a:solidFill>
                <a:srgbClr val="545454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11" id="11"/>
            <p:cNvSpPr/>
            <p:nvPr/>
          </p:nvSpPr>
          <p:spPr>
            <a:xfrm flipV="true">
              <a:off x="13808453" y="5827120"/>
              <a:ext cx="0" cy="542659"/>
            </a:xfrm>
            <a:prstGeom prst="line">
              <a:avLst/>
            </a:prstGeom>
            <a:ln cap="flat" w="50800">
              <a:solidFill>
                <a:srgbClr val="545454"/>
              </a:solidFill>
              <a:prstDash val="solid"/>
              <a:headEnd type="none" len="sm" w="sm"/>
              <a:tailEnd type="triangle" len="med" w="lg"/>
            </a:ln>
          </p:spPr>
        </p:sp>
        <p:grpSp>
          <p:nvGrpSpPr>
            <p:cNvPr name="Group 12" id="12"/>
            <p:cNvGrpSpPr/>
            <p:nvPr/>
          </p:nvGrpSpPr>
          <p:grpSpPr>
            <a:xfrm rot="0">
              <a:off x="14278353" y="7673618"/>
              <a:ext cx="4294055" cy="1598748"/>
              <a:chOff x="0" y="0"/>
              <a:chExt cx="1036202" cy="38579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36202" cy="385795"/>
              </a:xfrm>
              <a:custGeom>
                <a:avLst/>
                <a:gdLst/>
                <a:ahLst/>
                <a:cxnLst/>
                <a:rect r="r" b="b" t="t" l="l"/>
                <a:pathLst>
                  <a:path h="385795" w="1036202">
                    <a:moveTo>
                      <a:pt x="64906" y="0"/>
                    </a:moveTo>
                    <a:lnTo>
                      <a:pt x="971297" y="0"/>
                    </a:lnTo>
                    <a:cubicBezTo>
                      <a:pt x="988511" y="0"/>
                      <a:pt x="1005020" y="6838"/>
                      <a:pt x="1017192" y="19010"/>
                    </a:cubicBezTo>
                    <a:cubicBezTo>
                      <a:pt x="1029364" y="31183"/>
                      <a:pt x="1036202" y="47692"/>
                      <a:pt x="1036202" y="64906"/>
                    </a:cubicBezTo>
                    <a:lnTo>
                      <a:pt x="1036202" y="320889"/>
                    </a:lnTo>
                    <a:cubicBezTo>
                      <a:pt x="1036202" y="338104"/>
                      <a:pt x="1029364" y="354613"/>
                      <a:pt x="1017192" y="366785"/>
                    </a:cubicBezTo>
                    <a:cubicBezTo>
                      <a:pt x="1005020" y="378957"/>
                      <a:pt x="988511" y="385795"/>
                      <a:pt x="971297" y="385795"/>
                    </a:cubicBezTo>
                    <a:lnTo>
                      <a:pt x="64906" y="385795"/>
                    </a:lnTo>
                    <a:cubicBezTo>
                      <a:pt x="47692" y="385795"/>
                      <a:pt x="31183" y="378957"/>
                      <a:pt x="19010" y="366785"/>
                    </a:cubicBezTo>
                    <a:cubicBezTo>
                      <a:pt x="6838" y="354613"/>
                      <a:pt x="0" y="338104"/>
                      <a:pt x="0" y="320889"/>
                    </a:cubicBezTo>
                    <a:lnTo>
                      <a:pt x="0" y="64906"/>
                    </a:lnTo>
                    <a:cubicBezTo>
                      <a:pt x="0" y="47692"/>
                      <a:pt x="6838" y="31183"/>
                      <a:pt x="19010" y="19010"/>
                    </a:cubicBezTo>
                    <a:cubicBezTo>
                      <a:pt x="31183" y="6838"/>
                      <a:pt x="47692" y="0"/>
                      <a:pt x="64906" y="0"/>
                    </a:cubicBezTo>
                    <a:close/>
                  </a:path>
                </a:pathLst>
              </a:custGeom>
              <a:solidFill>
                <a:srgbClr val="F98698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28575"/>
                <a:ext cx="1036202" cy="357220"/>
              </a:xfrm>
              <a:prstGeom prst="rect">
                <a:avLst/>
              </a:prstGeom>
            </p:spPr>
            <p:txBody>
              <a:bodyPr anchor="ctr" rtlCol="false" tIns="41584" lIns="41584" bIns="41584" rIns="41584"/>
              <a:lstStyle/>
              <a:p>
                <a:pPr algn="ctr">
                  <a:lnSpc>
                    <a:spcPts val="1700"/>
                  </a:lnSpc>
                </a:pPr>
                <a:r>
                  <a:rPr lang="en-US" b="true" sz="1700" spc="-34">
                    <a:solidFill>
                      <a:srgbClr val="F98698"/>
                    </a:solidFill>
                    <a:latin typeface="Source Han Sans KR Medium"/>
                    <a:ea typeface="Source Han Sans KR Medium"/>
                    <a:cs typeface="Source Han Sans KR Medium"/>
                    <a:sym typeface="Source Han Sans KR Medium"/>
                  </a:rPr>
                  <a:t>ㄷ</a:t>
                </a: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15309541" y="7836337"/>
              <a:ext cx="2231680" cy="8290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19"/>
                </a:lnSpc>
              </a:pPr>
              <a:r>
                <a:rPr lang="en-US" sz="1637" b="true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Critic Agent 결과 </a:t>
              </a:r>
            </a:p>
            <a:p>
              <a:pPr algn="ctr">
                <a:lnSpc>
                  <a:spcPts val="2619"/>
                </a:lnSpc>
                <a:spcBef>
                  <a:spcPct val="0"/>
                </a:spcBef>
              </a:pPr>
              <a:r>
                <a:rPr lang="en-US" b="true" sz="1637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검증 수행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5393779" y="8812469"/>
              <a:ext cx="2063203" cy="2698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en-US" sz="1400" spc="-28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분석 결과 품질 검증</a:t>
              </a:r>
            </a:p>
          </p:txBody>
        </p:sp>
        <p:sp>
          <p:nvSpPr>
            <p:cNvPr name="AutoShape 17" id="17"/>
            <p:cNvSpPr/>
            <p:nvPr/>
          </p:nvSpPr>
          <p:spPr>
            <a:xfrm>
              <a:off x="11699525" y="6625348"/>
              <a:ext cx="0" cy="811254"/>
            </a:xfrm>
            <a:prstGeom prst="line">
              <a:avLst/>
            </a:prstGeom>
            <a:ln cap="flat" w="50800">
              <a:solidFill>
                <a:srgbClr val="545454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18" id="18"/>
            <p:cNvSpPr/>
            <p:nvPr/>
          </p:nvSpPr>
          <p:spPr>
            <a:xfrm>
              <a:off x="16254008" y="6625547"/>
              <a:ext cx="0" cy="810856"/>
            </a:xfrm>
            <a:prstGeom prst="line">
              <a:avLst/>
            </a:prstGeom>
            <a:ln cap="flat" w="50800">
              <a:solidFill>
                <a:srgbClr val="545454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11686825" y="6625547"/>
              <a:ext cx="4567183" cy="0"/>
            </a:xfrm>
            <a:prstGeom prst="line">
              <a:avLst/>
            </a:prstGeom>
            <a:ln cap="flat" w="50800">
              <a:solidFill>
                <a:srgbClr val="54545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 flipH="true">
              <a:off x="271140" y="8155958"/>
              <a:ext cx="3150644" cy="0"/>
            </a:xfrm>
            <a:prstGeom prst="line">
              <a:avLst/>
            </a:prstGeom>
            <a:ln cap="flat" w="50800">
              <a:solidFill>
                <a:srgbClr val="545454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13992602" y="77"/>
              <a:ext cx="10862" cy="3594252"/>
            </a:xfrm>
            <a:prstGeom prst="line">
              <a:avLst/>
            </a:prstGeom>
            <a:ln cap="flat" w="50800">
              <a:solidFill>
                <a:srgbClr val="545454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22" id="22"/>
            <p:cNvSpPr/>
            <p:nvPr/>
          </p:nvSpPr>
          <p:spPr>
            <a:xfrm flipH="true">
              <a:off x="6024893" y="25477"/>
              <a:ext cx="7978571" cy="0"/>
            </a:xfrm>
            <a:prstGeom prst="line">
              <a:avLst/>
            </a:prstGeom>
            <a:ln cap="flat" w="50800">
              <a:solidFill>
                <a:srgbClr val="54545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3" id="23"/>
            <p:cNvSpPr/>
            <p:nvPr/>
          </p:nvSpPr>
          <p:spPr>
            <a:xfrm flipV="true">
              <a:off x="6062993" y="77"/>
              <a:ext cx="0" cy="738533"/>
            </a:xfrm>
            <a:prstGeom prst="line">
              <a:avLst/>
            </a:prstGeom>
            <a:ln cap="flat" w="50800">
              <a:solidFill>
                <a:srgbClr val="54545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4" id="24"/>
            <p:cNvSpPr/>
            <p:nvPr/>
          </p:nvSpPr>
          <p:spPr>
            <a:xfrm flipH="true" flipV="true">
              <a:off x="8603720" y="1561985"/>
              <a:ext cx="2016377" cy="0"/>
            </a:xfrm>
            <a:prstGeom prst="line">
              <a:avLst/>
            </a:prstGeom>
            <a:ln cap="flat" w="50800">
              <a:solidFill>
                <a:srgbClr val="545454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25" id="25"/>
            <p:cNvSpPr/>
            <p:nvPr/>
          </p:nvSpPr>
          <p:spPr>
            <a:xfrm flipH="true" flipV="true">
              <a:off x="11939375" y="1523885"/>
              <a:ext cx="825764" cy="89"/>
            </a:xfrm>
            <a:prstGeom prst="line">
              <a:avLst/>
            </a:prstGeom>
            <a:ln cap="flat" w="50800">
              <a:solidFill>
                <a:srgbClr val="54545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6" id="26"/>
            <p:cNvSpPr/>
            <p:nvPr/>
          </p:nvSpPr>
          <p:spPr>
            <a:xfrm flipH="true" flipV="true">
              <a:off x="12752438" y="1523974"/>
              <a:ext cx="7287" cy="2083003"/>
            </a:xfrm>
            <a:prstGeom prst="line">
              <a:avLst/>
            </a:prstGeom>
            <a:ln cap="flat" w="50800">
              <a:solidFill>
                <a:srgbClr val="545454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7" id="27"/>
            <p:cNvGrpSpPr/>
            <p:nvPr/>
          </p:nvGrpSpPr>
          <p:grpSpPr>
            <a:xfrm rot="0">
              <a:off x="3865165" y="891739"/>
              <a:ext cx="4294055" cy="1598748"/>
              <a:chOff x="0" y="0"/>
              <a:chExt cx="1036202" cy="385795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36202" cy="385795"/>
              </a:xfrm>
              <a:custGeom>
                <a:avLst/>
                <a:gdLst/>
                <a:ahLst/>
                <a:cxnLst/>
                <a:rect r="r" b="b" t="t" l="l"/>
                <a:pathLst>
                  <a:path h="385795" w="1036202">
                    <a:moveTo>
                      <a:pt x="64906" y="0"/>
                    </a:moveTo>
                    <a:lnTo>
                      <a:pt x="971297" y="0"/>
                    </a:lnTo>
                    <a:cubicBezTo>
                      <a:pt x="988511" y="0"/>
                      <a:pt x="1005020" y="6838"/>
                      <a:pt x="1017192" y="19010"/>
                    </a:cubicBezTo>
                    <a:cubicBezTo>
                      <a:pt x="1029364" y="31183"/>
                      <a:pt x="1036202" y="47692"/>
                      <a:pt x="1036202" y="64906"/>
                    </a:cubicBezTo>
                    <a:lnTo>
                      <a:pt x="1036202" y="320889"/>
                    </a:lnTo>
                    <a:cubicBezTo>
                      <a:pt x="1036202" y="338104"/>
                      <a:pt x="1029364" y="354613"/>
                      <a:pt x="1017192" y="366785"/>
                    </a:cubicBezTo>
                    <a:cubicBezTo>
                      <a:pt x="1005020" y="378957"/>
                      <a:pt x="988511" y="385795"/>
                      <a:pt x="971297" y="385795"/>
                    </a:cubicBezTo>
                    <a:lnTo>
                      <a:pt x="64906" y="385795"/>
                    </a:lnTo>
                    <a:cubicBezTo>
                      <a:pt x="47692" y="385795"/>
                      <a:pt x="31183" y="378957"/>
                      <a:pt x="19010" y="366785"/>
                    </a:cubicBezTo>
                    <a:cubicBezTo>
                      <a:pt x="6838" y="354613"/>
                      <a:pt x="0" y="338104"/>
                      <a:pt x="0" y="320889"/>
                    </a:cubicBezTo>
                    <a:lnTo>
                      <a:pt x="0" y="64906"/>
                    </a:lnTo>
                    <a:cubicBezTo>
                      <a:pt x="0" y="47692"/>
                      <a:pt x="6838" y="31183"/>
                      <a:pt x="19010" y="19010"/>
                    </a:cubicBezTo>
                    <a:cubicBezTo>
                      <a:pt x="31183" y="6838"/>
                      <a:pt x="47692" y="0"/>
                      <a:pt x="64906" y="0"/>
                    </a:cubicBezTo>
                    <a:close/>
                  </a:path>
                </a:pathLst>
              </a:custGeom>
              <a:solidFill>
                <a:srgbClr val="F98698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28575"/>
                <a:ext cx="1036202" cy="357220"/>
              </a:xfrm>
              <a:prstGeom prst="rect">
                <a:avLst/>
              </a:prstGeom>
            </p:spPr>
            <p:txBody>
              <a:bodyPr anchor="ctr" rtlCol="false" tIns="41584" lIns="41584" bIns="41584" rIns="41584"/>
              <a:lstStyle/>
              <a:p>
                <a:pPr algn="ctr">
                  <a:lnSpc>
                    <a:spcPts val="1700"/>
                  </a:lnSpc>
                </a:pPr>
                <a:r>
                  <a:rPr lang="en-US" b="true" sz="1700" spc="-34">
                    <a:solidFill>
                      <a:srgbClr val="F98698"/>
                    </a:solidFill>
                    <a:latin typeface="Source Han Sans KR Medium"/>
                    <a:ea typeface="Source Han Sans KR Medium"/>
                    <a:cs typeface="Source Han Sans KR Medium"/>
                    <a:sym typeface="Source Han Sans KR Medium"/>
                  </a:rPr>
                  <a:t>ㄷ</a:t>
                </a: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5449687" y="1322179"/>
              <a:ext cx="1125012" cy="3875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19"/>
                </a:lnSpc>
                <a:spcBef>
                  <a:spcPct val="0"/>
                </a:spcBef>
              </a:pPr>
              <a:r>
                <a:rPr lang="en-US" b="true" sz="1637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DB 저장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4286328" y="1853328"/>
              <a:ext cx="3451730" cy="3210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리뷰 데이터 저장 및 분석 대상 관리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0717230" y="1350306"/>
              <a:ext cx="1125012" cy="3408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99"/>
                </a:lnSpc>
                <a:spcBef>
                  <a:spcPct val="0"/>
                </a:spcBef>
              </a:pPr>
              <a:r>
                <a:rPr lang="en-US" b="true" sz="1437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분석 결과</a:t>
              </a:r>
            </a:p>
          </p:txBody>
        </p:sp>
        <p:grpSp>
          <p:nvGrpSpPr>
            <p:cNvPr name="Group 33" id="33"/>
            <p:cNvGrpSpPr/>
            <p:nvPr/>
          </p:nvGrpSpPr>
          <p:grpSpPr>
            <a:xfrm rot="0">
              <a:off x="11279736" y="3948972"/>
              <a:ext cx="4852959" cy="1598748"/>
              <a:chOff x="0" y="0"/>
              <a:chExt cx="1171072" cy="385795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171072" cy="385795"/>
              </a:xfrm>
              <a:custGeom>
                <a:avLst/>
                <a:gdLst/>
                <a:ahLst/>
                <a:cxnLst/>
                <a:rect r="r" b="b" t="t" l="l"/>
                <a:pathLst>
                  <a:path h="385795" w="1171072">
                    <a:moveTo>
                      <a:pt x="57431" y="0"/>
                    </a:moveTo>
                    <a:lnTo>
                      <a:pt x="1113641" y="0"/>
                    </a:lnTo>
                    <a:cubicBezTo>
                      <a:pt x="1145359" y="0"/>
                      <a:pt x="1171072" y="25713"/>
                      <a:pt x="1171072" y="57431"/>
                    </a:cubicBezTo>
                    <a:lnTo>
                      <a:pt x="1171072" y="328364"/>
                    </a:lnTo>
                    <a:cubicBezTo>
                      <a:pt x="1171072" y="343596"/>
                      <a:pt x="1165021" y="358204"/>
                      <a:pt x="1154251" y="368974"/>
                    </a:cubicBezTo>
                    <a:cubicBezTo>
                      <a:pt x="1143480" y="379745"/>
                      <a:pt x="1128873" y="385795"/>
                      <a:pt x="1113641" y="385795"/>
                    </a:cubicBezTo>
                    <a:lnTo>
                      <a:pt x="57431" y="385795"/>
                    </a:lnTo>
                    <a:cubicBezTo>
                      <a:pt x="25713" y="385795"/>
                      <a:pt x="0" y="360083"/>
                      <a:pt x="0" y="328364"/>
                    </a:cubicBezTo>
                    <a:lnTo>
                      <a:pt x="0" y="57431"/>
                    </a:lnTo>
                    <a:cubicBezTo>
                      <a:pt x="0" y="25713"/>
                      <a:pt x="25713" y="0"/>
                      <a:pt x="57431" y="0"/>
                    </a:cubicBezTo>
                    <a:close/>
                  </a:path>
                </a:pathLst>
              </a:custGeom>
              <a:solidFill>
                <a:srgbClr val="F98698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28575"/>
                <a:ext cx="1171072" cy="357220"/>
              </a:xfrm>
              <a:prstGeom prst="rect">
                <a:avLst/>
              </a:prstGeom>
            </p:spPr>
            <p:txBody>
              <a:bodyPr anchor="ctr" rtlCol="false" tIns="41584" lIns="41584" bIns="41584" rIns="41584"/>
              <a:lstStyle/>
              <a:p>
                <a:pPr algn="ctr">
                  <a:lnSpc>
                    <a:spcPts val="1700"/>
                  </a:lnSpc>
                </a:pPr>
                <a:r>
                  <a:rPr lang="en-US" b="true" sz="1700" spc="-34">
                    <a:solidFill>
                      <a:srgbClr val="F98698"/>
                    </a:solidFill>
                    <a:latin typeface="Source Han Sans KR Medium"/>
                    <a:ea typeface="Source Han Sans KR Medium"/>
                    <a:cs typeface="Source Han Sans KR Medium"/>
                    <a:sym typeface="Source Han Sans KR Medium"/>
                  </a:rPr>
                  <a:t>ㄷ</a:t>
                </a: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11957907" y="4304146"/>
              <a:ext cx="3644587" cy="392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19"/>
                </a:lnSpc>
                <a:spcBef>
                  <a:spcPct val="0"/>
                </a:spcBef>
              </a:pPr>
              <a:r>
                <a:rPr lang="en-US" b="true" sz="1637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Supervisor Agent 흐름  제어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1385539" y="4998164"/>
              <a:ext cx="4666752" cy="2698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en-US" sz="1400" spc="-28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Agent 간 역할 분리를 통한 반복 검증 구조 설계</a:t>
              </a:r>
            </a:p>
          </p:txBody>
        </p:sp>
        <p:grpSp>
          <p:nvGrpSpPr>
            <p:cNvPr name="Group 38" id="38"/>
            <p:cNvGrpSpPr/>
            <p:nvPr/>
          </p:nvGrpSpPr>
          <p:grpSpPr>
            <a:xfrm rot="0">
              <a:off x="3915965" y="7343884"/>
              <a:ext cx="4294055" cy="1598748"/>
              <a:chOff x="0" y="0"/>
              <a:chExt cx="1036202" cy="385795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036202" cy="385795"/>
              </a:xfrm>
              <a:custGeom>
                <a:avLst/>
                <a:gdLst/>
                <a:ahLst/>
                <a:cxnLst/>
                <a:rect r="r" b="b" t="t" l="l"/>
                <a:pathLst>
                  <a:path h="385795" w="1036202">
                    <a:moveTo>
                      <a:pt x="64906" y="0"/>
                    </a:moveTo>
                    <a:lnTo>
                      <a:pt x="971297" y="0"/>
                    </a:lnTo>
                    <a:cubicBezTo>
                      <a:pt x="988511" y="0"/>
                      <a:pt x="1005020" y="6838"/>
                      <a:pt x="1017192" y="19010"/>
                    </a:cubicBezTo>
                    <a:cubicBezTo>
                      <a:pt x="1029364" y="31183"/>
                      <a:pt x="1036202" y="47692"/>
                      <a:pt x="1036202" y="64906"/>
                    </a:cubicBezTo>
                    <a:lnTo>
                      <a:pt x="1036202" y="320889"/>
                    </a:lnTo>
                    <a:cubicBezTo>
                      <a:pt x="1036202" y="338104"/>
                      <a:pt x="1029364" y="354613"/>
                      <a:pt x="1017192" y="366785"/>
                    </a:cubicBezTo>
                    <a:cubicBezTo>
                      <a:pt x="1005020" y="378957"/>
                      <a:pt x="988511" y="385795"/>
                      <a:pt x="971297" y="385795"/>
                    </a:cubicBezTo>
                    <a:lnTo>
                      <a:pt x="64906" y="385795"/>
                    </a:lnTo>
                    <a:cubicBezTo>
                      <a:pt x="47692" y="385795"/>
                      <a:pt x="31183" y="378957"/>
                      <a:pt x="19010" y="366785"/>
                    </a:cubicBezTo>
                    <a:cubicBezTo>
                      <a:pt x="6838" y="354613"/>
                      <a:pt x="0" y="338104"/>
                      <a:pt x="0" y="320889"/>
                    </a:cubicBezTo>
                    <a:lnTo>
                      <a:pt x="0" y="64906"/>
                    </a:lnTo>
                    <a:cubicBezTo>
                      <a:pt x="0" y="47692"/>
                      <a:pt x="6838" y="31183"/>
                      <a:pt x="19010" y="19010"/>
                    </a:cubicBezTo>
                    <a:cubicBezTo>
                      <a:pt x="31183" y="6838"/>
                      <a:pt x="47692" y="0"/>
                      <a:pt x="64906" y="0"/>
                    </a:cubicBezTo>
                    <a:close/>
                  </a:path>
                </a:pathLst>
              </a:custGeom>
              <a:solidFill>
                <a:srgbClr val="F98698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28575"/>
                <a:ext cx="1036202" cy="357220"/>
              </a:xfrm>
              <a:prstGeom prst="rect">
                <a:avLst/>
              </a:prstGeom>
            </p:spPr>
            <p:txBody>
              <a:bodyPr anchor="ctr" rtlCol="false" tIns="41584" lIns="41584" bIns="41584" rIns="41584"/>
              <a:lstStyle/>
              <a:p>
                <a:pPr algn="ctr">
                  <a:lnSpc>
                    <a:spcPts val="1700"/>
                  </a:lnSpc>
                </a:pPr>
                <a:r>
                  <a:rPr lang="en-US" b="true" sz="1700" spc="-34">
                    <a:solidFill>
                      <a:srgbClr val="F98698"/>
                    </a:solidFill>
                    <a:latin typeface="Source Han Sans KR Medium"/>
                    <a:ea typeface="Source Han Sans KR Medium"/>
                    <a:cs typeface="Source Han Sans KR Medium"/>
                    <a:sym typeface="Source Han Sans KR Medium"/>
                  </a:rPr>
                  <a:t>ㄷ</a:t>
                </a: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4266099" y="7750845"/>
              <a:ext cx="3644587" cy="3924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19"/>
                </a:lnSpc>
                <a:spcBef>
                  <a:spcPct val="0"/>
                </a:spcBef>
              </a:pPr>
              <a:r>
                <a:rPr lang="en-US" b="true" sz="1637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Router Agent 흐름  제어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4904721" y="8309302"/>
              <a:ext cx="2367343" cy="3210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저평점 리뷰 분산 분석</a:t>
              </a:r>
            </a:p>
          </p:txBody>
        </p:sp>
        <p:grpSp>
          <p:nvGrpSpPr>
            <p:cNvPr name="Group 43" id="43"/>
            <p:cNvGrpSpPr/>
            <p:nvPr/>
          </p:nvGrpSpPr>
          <p:grpSpPr>
            <a:xfrm rot="0">
              <a:off x="9539798" y="7673578"/>
              <a:ext cx="4294055" cy="1598787"/>
              <a:chOff x="0" y="0"/>
              <a:chExt cx="1036202" cy="385805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036202" cy="385805"/>
              </a:xfrm>
              <a:custGeom>
                <a:avLst/>
                <a:gdLst/>
                <a:ahLst/>
                <a:cxnLst/>
                <a:rect r="r" b="b" t="t" l="l"/>
                <a:pathLst>
                  <a:path h="385805" w="1036202">
                    <a:moveTo>
                      <a:pt x="64906" y="0"/>
                    </a:moveTo>
                    <a:lnTo>
                      <a:pt x="971297" y="0"/>
                    </a:lnTo>
                    <a:cubicBezTo>
                      <a:pt x="988511" y="0"/>
                      <a:pt x="1005020" y="6838"/>
                      <a:pt x="1017192" y="19010"/>
                    </a:cubicBezTo>
                    <a:cubicBezTo>
                      <a:pt x="1029364" y="31183"/>
                      <a:pt x="1036202" y="47692"/>
                      <a:pt x="1036202" y="64906"/>
                    </a:cubicBezTo>
                    <a:lnTo>
                      <a:pt x="1036202" y="320899"/>
                    </a:lnTo>
                    <a:cubicBezTo>
                      <a:pt x="1036202" y="338113"/>
                      <a:pt x="1029364" y="354622"/>
                      <a:pt x="1017192" y="366794"/>
                    </a:cubicBezTo>
                    <a:cubicBezTo>
                      <a:pt x="1005020" y="378966"/>
                      <a:pt x="988511" y="385805"/>
                      <a:pt x="971297" y="385805"/>
                    </a:cubicBezTo>
                    <a:lnTo>
                      <a:pt x="64906" y="385805"/>
                    </a:lnTo>
                    <a:cubicBezTo>
                      <a:pt x="47692" y="385805"/>
                      <a:pt x="31183" y="378966"/>
                      <a:pt x="19010" y="366794"/>
                    </a:cubicBezTo>
                    <a:cubicBezTo>
                      <a:pt x="6838" y="354622"/>
                      <a:pt x="0" y="338113"/>
                      <a:pt x="0" y="320899"/>
                    </a:cubicBezTo>
                    <a:lnTo>
                      <a:pt x="0" y="64906"/>
                    </a:lnTo>
                    <a:cubicBezTo>
                      <a:pt x="0" y="47692"/>
                      <a:pt x="6838" y="31183"/>
                      <a:pt x="19010" y="19010"/>
                    </a:cubicBezTo>
                    <a:cubicBezTo>
                      <a:pt x="31183" y="6838"/>
                      <a:pt x="47692" y="0"/>
                      <a:pt x="64906" y="0"/>
                    </a:cubicBezTo>
                    <a:close/>
                  </a:path>
                </a:pathLst>
              </a:custGeom>
              <a:solidFill>
                <a:srgbClr val="F98698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28575"/>
                <a:ext cx="1036202" cy="357230"/>
              </a:xfrm>
              <a:prstGeom prst="rect">
                <a:avLst/>
              </a:prstGeom>
            </p:spPr>
            <p:txBody>
              <a:bodyPr anchor="ctr" rtlCol="false" tIns="41584" lIns="41584" bIns="41584" rIns="41584"/>
              <a:lstStyle/>
              <a:p>
                <a:pPr algn="ctr">
                  <a:lnSpc>
                    <a:spcPts val="1700"/>
                  </a:lnSpc>
                </a:pPr>
                <a:r>
                  <a:rPr lang="en-US" b="true" sz="1700" spc="-34">
                    <a:solidFill>
                      <a:srgbClr val="F98698"/>
                    </a:solidFill>
                    <a:latin typeface="Source Han Sans KR Medium"/>
                    <a:ea typeface="Source Han Sans KR Medium"/>
                    <a:cs typeface="Source Han Sans KR Medium"/>
                    <a:sym typeface="Source Han Sans KR Medium"/>
                  </a:rPr>
                  <a:t>ㄷ</a:t>
                </a: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10620097" y="7820378"/>
              <a:ext cx="1976485" cy="8290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19"/>
                </a:lnSpc>
              </a:pPr>
              <a:r>
                <a:rPr lang="en-US" sz="1637" b="true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Analyer Agent</a:t>
              </a:r>
            </a:p>
            <a:p>
              <a:pPr algn="ctr">
                <a:lnSpc>
                  <a:spcPts val="2619"/>
                </a:lnSpc>
                <a:spcBef>
                  <a:spcPct val="0"/>
                </a:spcBef>
              </a:pPr>
              <a:r>
                <a:rPr lang="en-US" b="true" sz="1637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리뷰 분석 수행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10523806" y="8812469"/>
              <a:ext cx="2351439" cy="2698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en-US" sz="1400" spc="-28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Aspect 기반 감성 분석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749036" y="1203127"/>
            <a:ext cx="6665064" cy="528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고객 리뷰 데이터 분석 수집 파이프라인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49036" y="567258"/>
            <a:ext cx="241488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C456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02</a:t>
            </a:r>
            <a:r>
              <a:rPr lang="en-US" b="true" sz="300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시스템 구현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-422313" y="6174605"/>
            <a:ext cx="3643384" cy="3703528"/>
            <a:chOff x="0" y="0"/>
            <a:chExt cx="4857845" cy="4938037"/>
          </a:xfrm>
        </p:grpSpPr>
        <p:sp>
          <p:nvSpPr>
            <p:cNvPr name="Freeform 51" id="51"/>
            <p:cNvSpPr/>
            <p:nvPr/>
          </p:nvSpPr>
          <p:spPr>
            <a:xfrm flipH="false" flipV="false" rot="-10800000">
              <a:off x="0" y="0"/>
              <a:ext cx="4857845" cy="4938037"/>
            </a:xfrm>
            <a:custGeom>
              <a:avLst/>
              <a:gdLst/>
              <a:ahLst/>
              <a:cxnLst/>
              <a:rect r="r" b="b" t="t" l="l"/>
              <a:pathLst>
                <a:path h="4938037" w="4857845">
                  <a:moveTo>
                    <a:pt x="0" y="0"/>
                  </a:moveTo>
                  <a:lnTo>
                    <a:pt x="4857845" y="0"/>
                  </a:lnTo>
                  <a:lnTo>
                    <a:pt x="4857845" y="4938037"/>
                  </a:lnTo>
                  <a:lnTo>
                    <a:pt x="0" y="4938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825" t="0" r="-825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 rot="0">
              <a:off x="1047907" y="2005614"/>
              <a:ext cx="3167787" cy="4087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20"/>
                </a:lnSpc>
                <a:spcBef>
                  <a:spcPct val="0"/>
                </a:spcBef>
              </a:pPr>
              <a:r>
                <a:rPr lang="en-US" b="true" sz="1700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리뷰 분석 대시보드 시각화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786572" y="2715605"/>
              <a:ext cx="3690456" cy="3210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리뷰 분석 결과 및 VOC 인사이트 제공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7118360" y="929045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18256"/>
            <a:ext cx="18288000" cy="268744"/>
            <a:chOff x="0" y="0"/>
            <a:chExt cx="4816593" cy="70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0780"/>
            </a:xfrm>
            <a:custGeom>
              <a:avLst/>
              <a:gdLst/>
              <a:ahLst/>
              <a:cxnLst/>
              <a:rect r="r" b="b" t="t" l="l"/>
              <a:pathLst>
                <a:path h="7078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0780"/>
                  </a:lnTo>
                  <a:lnTo>
                    <a:pt x="0" y="70780"/>
                  </a:lnTo>
                  <a:close/>
                </a:path>
              </a:pathLst>
            </a:custGeom>
            <a:solidFill>
              <a:srgbClr val="FC456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108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2921409"/>
            <a:ext cx="8872963" cy="4444183"/>
          </a:xfrm>
          <a:custGeom>
            <a:avLst/>
            <a:gdLst/>
            <a:ahLst/>
            <a:cxnLst/>
            <a:rect r="r" b="b" t="t" l="l"/>
            <a:pathLst>
              <a:path h="4444183" w="8872963">
                <a:moveTo>
                  <a:pt x="0" y="0"/>
                </a:moveTo>
                <a:lnTo>
                  <a:pt x="8872963" y="0"/>
                </a:lnTo>
                <a:lnTo>
                  <a:pt x="8872963" y="4444182"/>
                </a:lnTo>
                <a:lnTo>
                  <a:pt x="0" y="4444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5" r="-1314" b="-19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88582" y="636182"/>
            <a:ext cx="241488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C456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02</a:t>
            </a:r>
            <a:r>
              <a:rPr lang="en-US" b="true" sz="300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시스템 구현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8582" y="1336752"/>
            <a:ext cx="4417740" cy="49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spc="-66" b="true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Router Agent 추가 설명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18360" y="929045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8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508876" y="1730837"/>
            <a:ext cx="6971492" cy="7207193"/>
            <a:chOff x="0" y="0"/>
            <a:chExt cx="9295322" cy="960959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7465780" cy="6226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0"/>
                </a:lnSpc>
                <a:spcBef>
                  <a:spcPct val="0"/>
                </a:spcBef>
              </a:pPr>
              <a:r>
                <a:rPr lang="en-US" b="true" sz="2800">
                  <a:solidFill>
                    <a:srgbClr val="FC4561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저평점 리뷰 기반 불만 유형 분류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97033" y="927661"/>
              <a:ext cx="8205570" cy="4402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Aspect</a:t>
              </a:r>
              <a:r>
                <a:rPr lang="en-US" b="true" sz="2000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 · Label 데이터를 기반으로 고객 불만 속성을 식별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31840" y="2061962"/>
              <a:ext cx="7642363" cy="6226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0"/>
                </a:lnSpc>
                <a:spcBef>
                  <a:spcPct val="0"/>
                </a:spcBef>
              </a:pPr>
              <a:r>
                <a:rPr lang="en-US" b="true" sz="2800">
                  <a:solidFill>
                    <a:srgbClr val="FC4561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Router Agent 기반 전문가 분산 처리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31840" y="3029064"/>
              <a:ext cx="9163483" cy="9101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불만 속성에 따라 가격</a:t>
              </a:r>
              <a:r>
                <a:rPr lang="en-US" b="true" sz="2000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 · 성능 · 제형 · 디자인 · 서비스 Agent로 </a:t>
              </a:r>
            </a:p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자동 라우팅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31840" y="4048897"/>
              <a:ext cx="6427740" cy="6226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0"/>
                </a:lnSpc>
                <a:spcBef>
                  <a:spcPct val="0"/>
                </a:spcBef>
              </a:pPr>
              <a:r>
                <a:rPr lang="en-US" b="true" sz="2800">
                  <a:solidFill>
                    <a:srgbClr val="FC4561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속성별 전문가 Agent 분석 수행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31840" y="5022940"/>
              <a:ext cx="8771899" cy="4402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각 Agent가</a:t>
              </a:r>
              <a:r>
                <a:rPr lang="en-US" b="true" sz="2000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 리뷰 문맥을 기반으로 원인 분석 및 개선 방안 도출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31840" y="6155332"/>
              <a:ext cx="5836131" cy="6226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0"/>
                </a:lnSpc>
                <a:spcBef>
                  <a:spcPct val="0"/>
                </a:spcBef>
              </a:pPr>
              <a:r>
                <a:rPr lang="en-US" b="true" sz="2800">
                  <a:solidFill>
                    <a:srgbClr val="FC4561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Aggregator 기반 결과 통합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31840" y="7142110"/>
              <a:ext cx="7518495" cy="4402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분산된</a:t>
              </a:r>
              <a:r>
                <a:rPr lang="en-US" b="true" sz="2000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 분석 결과를 종합하여 제품 개선 인사이트 생성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51269" y="8274502"/>
              <a:ext cx="6028336" cy="6226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0"/>
                </a:lnSpc>
                <a:spcBef>
                  <a:spcPct val="0"/>
                </a:spcBef>
              </a:pPr>
              <a:r>
                <a:rPr lang="en-US" b="true" sz="2800">
                  <a:solidFill>
                    <a:srgbClr val="FC4561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VOC 기반 제품 개선 방향 제안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51323" y="9169348"/>
              <a:ext cx="9143999" cy="4402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반복</a:t>
              </a:r>
              <a:r>
                <a:rPr lang="en-US" b="true" sz="2000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 불만 요소를 기반으로 제품 품질 및 고객 경험 개선 방향 도출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72932" y="2342427"/>
            <a:ext cx="4241962" cy="3680792"/>
          </a:xfrm>
          <a:custGeom>
            <a:avLst/>
            <a:gdLst/>
            <a:ahLst/>
            <a:cxnLst/>
            <a:rect r="r" b="b" t="t" l="l"/>
            <a:pathLst>
              <a:path h="3680792" w="4241962">
                <a:moveTo>
                  <a:pt x="0" y="0"/>
                </a:moveTo>
                <a:lnTo>
                  <a:pt x="4241962" y="0"/>
                </a:lnTo>
                <a:lnTo>
                  <a:pt x="4241962" y="3680792"/>
                </a:lnTo>
                <a:lnTo>
                  <a:pt x="0" y="36807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342427"/>
            <a:ext cx="4325901" cy="3616009"/>
          </a:xfrm>
          <a:custGeom>
            <a:avLst/>
            <a:gdLst/>
            <a:ahLst/>
            <a:cxnLst/>
            <a:rect r="r" b="b" t="t" l="l"/>
            <a:pathLst>
              <a:path h="3616009" w="4325901">
                <a:moveTo>
                  <a:pt x="0" y="0"/>
                </a:moveTo>
                <a:lnTo>
                  <a:pt x="4325901" y="0"/>
                </a:lnTo>
                <a:lnTo>
                  <a:pt x="4325901" y="3616009"/>
                </a:lnTo>
                <a:lnTo>
                  <a:pt x="0" y="36160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4" id="4"/>
          <p:cNvGraphicFramePr/>
          <p:nvPr/>
        </p:nvGraphicFramePr>
        <p:xfrm>
          <a:off x="1605956" y="7489197"/>
          <a:ext cx="3771900" cy="1885950"/>
        </p:xfrm>
        <a:graphic>
          <a:graphicData uri="http://schemas.openxmlformats.org/presentationml/2006/ole">
            <p:oleObj imgW="4521200" imgH="26289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1133796" y="3016830"/>
            <a:ext cx="2212204" cy="85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9"/>
              </a:lnSpc>
            </a:pPr>
            <a:r>
              <a:rPr lang="en-US" sz="2199" b="true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기존 반복문 </a:t>
            </a:r>
          </a:p>
          <a:p>
            <a:pPr algn="ctr">
              <a:lnSpc>
                <a:spcPts val="351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방식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528182" y="2924120"/>
            <a:ext cx="1675915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0"/>
              </a:lnSpc>
              <a:spcBef>
                <a:spcPct val="0"/>
              </a:spcBef>
            </a:pPr>
            <a:r>
              <a:rPr lang="en-US" b="true" sz="160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200건 리뷰 분석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313974" y="3220560"/>
            <a:ext cx="2299347" cy="528531"/>
            <a:chOff x="0" y="0"/>
            <a:chExt cx="3116489" cy="716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16489" cy="716360"/>
            </a:xfrm>
            <a:custGeom>
              <a:avLst/>
              <a:gdLst/>
              <a:ahLst/>
              <a:cxnLst/>
              <a:rect r="r" b="b" t="t" l="l"/>
              <a:pathLst>
                <a:path h="716360" w="3116489">
                  <a:moveTo>
                    <a:pt x="3116489" y="358180"/>
                  </a:moveTo>
                  <a:lnTo>
                    <a:pt x="2710089" y="0"/>
                  </a:lnTo>
                  <a:lnTo>
                    <a:pt x="2710089" y="203200"/>
                  </a:lnTo>
                  <a:lnTo>
                    <a:pt x="0" y="203200"/>
                  </a:lnTo>
                  <a:lnTo>
                    <a:pt x="0" y="513160"/>
                  </a:lnTo>
                  <a:lnTo>
                    <a:pt x="2710089" y="513160"/>
                  </a:lnTo>
                  <a:lnTo>
                    <a:pt x="2710089" y="716360"/>
                  </a:lnTo>
                  <a:lnTo>
                    <a:pt x="3116489" y="358180"/>
                  </a:lnTo>
                  <a:close/>
                </a:path>
              </a:pathLst>
            </a:custGeom>
            <a:solidFill>
              <a:srgbClr val="9EA2C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27000"/>
              <a:ext cx="3014889" cy="386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5660945" y="3016830"/>
            <a:ext cx="1757171" cy="85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9"/>
              </a:lnSpc>
            </a:pPr>
            <a:r>
              <a:rPr lang="en-US" sz="2199" b="true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10분 이상</a:t>
            </a:r>
          </a:p>
          <a:p>
            <a:pPr algn="ctr">
              <a:lnSpc>
                <a:spcPts val="351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소요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0" y="10018256"/>
            <a:ext cx="18288000" cy="268744"/>
            <a:chOff x="0" y="0"/>
            <a:chExt cx="4816593" cy="707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16592" cy="70780"/>
            </a:xfrm>
            <a:custGeom>
              <a:avLst/>
              <a:gdLst/>
              <a:ahLst/>
              <a:cxnLst/>
              <a:rect r="r" b="b" t="t" l="l"/>
              <a:pathLst>
                <a:path h="7078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0780"/>
                  </a:lnTo>
                  <a:lnTo>
                    <a:pt x="0" y="70780"/>
                  </a:lnTo>
                  <a:close/>
                </a:path>
              </a:pathLst>
            </a:custGeom>
            <a:solidFill>
              <a:srgbClr val="FC456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816593" cy="108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7651818">
            <a:off x="13932991" y="4783472"/>
            <a:ext cx="2266472" cy="528531"/>
            <a:chOff x="0" y="0"/>
            <a:chExt cx="3071932" cy="716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71931" cy="716360"/>
            </a:xfrm>
            <a:custGeom>
              <a:avLst/>
              <a:gdLst/>
              <a:ahLst/>
              <a:cxnLst/>
              <a:rect r="r" b="b" t="t" l="l"/>
              <a:pathLst>
                <a:path h="716360" w="3071931">
                  <a:moveTo>
                    <a:pt x="3071931" y="358180"/>
                  </a:moveTo>
                  <a:lnTo>
                    <a:pt x="2665531" y="0"/>
                  </a:lnTo>
                  <a:lnTo>
                    <a:pt x="2665531" y="203200"/>
                  </a:lnTo>
                  <a:lnTo>
                    <a:pt x="0" y="203200"/>
                  </a:lnTo>
                  <a:lnTo>
                    <a:pt x="0" y="513160"/>
                  </a:lnTo>
                  <a:lnTo>
                    <a:pt x="2665531" y="513160"/>
                  </a:lnTo>
                  <a:lnTo>
                    <a:pt x="2665531" y="716360"/>
                  </a:lnTo>
                  <a:lnTo>
                    <a:pt x="3071931" y="358180"/>
                  </a:lnTo>
                  <a:close/>
                </a:path>
              </a:pathLst>
            </a:custGeom>
            <a:solidFill>
              <a:srgbClr val="9EA2C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27000"/>
              <a:ext cx="2970332" cy="386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1380286" y="2625213"/>
            <a:ext cx="1719225" cy="1719225"/>
          </a:xfrm>
          <a:custGeom>
            <a:avLst/>
            <a:gdLst/>
            <a:ahLst/>
            <a:cxnLst/>
            <a:rect r="r" b="b" t="t" l="l"/>
            <a:pathLst>
              <a:path h="1719225" w="1719225">
                <a:moveTo>
                  <a:pt x="0" y="0"/>
                </a:moveTo>
                <a:lnTo>
                  <a:pt x="1719225" y="0"/>
                </a:lnTo>
                <a:lnTo>
                  <a:pt x="1719225" y="1719225"/>
                </a:lnTo>
                <a:lnTo>
                  <a:pt x="0" y="1719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88582" y="636182"/>
            <a:ext cx="241488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C456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02</a:t>
            </a:r>
            <a:r>
              <a:rPr lang="en-US" b="true" sz="300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시스템 구현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4298" y="1504227"/>
            <a:ext cx="497895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spc="-66" b="true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배치 (동기 vs 비동기)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6088195"/>
            <a:ext cx="3467595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spc="-46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동기 처리 방식</a:t>
            </a:r>
          </a:p>
          <a:p>
            <a:pPr algn="ctr">
              <a:lnSpc>
                <a:spcPts val="2760"/>
              </a:lnSpc>
            </a:pPr>
            <a:r>
              <a:rPr lang="en-US" sz="2300" spc="-46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(일꾼 1명)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13667" y="6088195"/>
            <a:ext cx="2435469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spc="-46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비동기 처리 방식 </a:t>
            </a:r>
          </a:p>
          <a:p>
            <a:pPr algn="ctr">
              <a:lnSpc>
                <a:spcPts val="2760"/>
              </a:lnSpc>
            </a:pPr>
            <a:r>
              <a:rPr lang="en-US" sz="2300" spc="-46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(일꾼 2명 이상)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64476" y="9128212"/>
            <a:ext cx="3769321" cy="35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9"/>
              </a:lnSpc>
              <a:spcBef>
                <a:spcPct val="0"/>
              </a:spcBef>
            </a:pPr>
            <a:r>
              <a:rPr lang="en-US" b="true" sz="1899" spc="-37">
                <a:solidFill>
                  <a:srgbClr val="FF313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동기 방식에 비해 </a:t>
            </a:r>
            <a:r>
              <a:rPr lang="en-US" b="true" sz="1899" spc="-37">
                <a:solidFill>
                  <a:srgbClr val="FF313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약 5.52배 성능 향상!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99438" y="5897864"/>
            <a:ext cx="4328418" cy="104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35"/>
              </a:lnSpc>
              <a:spcBef>
                <a:spcPct val="0"/>
              </a:spcBef>
            </a:pPr>
            <a:r>
              <a:rPr lang="en-US" b="true" sz="5522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일꾼을 늘리자!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118360" y="929045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9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73142" y="1817916"/>
            <a:ext cx="1692374" cy="52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2799" spc="-55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기존 문제점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5698892" y="2625213"/>
            <a:ext cx="1719225" cy="1719225"/>
          </a:xfrm>
          <a:custGeom>
            <a:avLst/>
            <a:gdLst/>
            <a:ahLst/>
            <a:cxnLst/>
            <a:rect r="r" b="b" t="t" l="l"/>
            <a:pathLst>
              <a:path h="1719225" w="1719225">
                <a:moveTo>
                  <a:pt x="0" y="0"/>
                </a:moveTo>
                <a:lnTo>
                  <a:pt x="1719224" y="0"/>
                </a:lnTo>
                <a:lnTo>
                  <a:pt x="1719224" y="1719225"/>
                </a:lnTo>
                <a:lnTo>
                  <a:pt x="0" y="1719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09738" y="3529548"/>
            <a:ext cx="3086141" cy="128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210"/>
              </a:lnSpc>
              <a:spcBef>
                <a:spcPct val="0"/>
              </a:spcBef>
            </a:pPr>
            <a:r>
              <a:rPr lang="en-US" b="true" sz="5963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결과 확인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12404" y="3088259"/>
            <a:ext cx="1895885" cy="265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10"/>
              </a:lnSpc>
              <a:spcBef>
                <a:spcPct val="0"/>
              </a:spcBef>
            </a:pPr>
            <a:r>
              <a:rPr lang="en-US" b="true" sz="12186">
                <a:solidFill>
                  <a:srgbClr val="FC456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03</a:t>
            </a:r>
          </a:p>
        </p:txBody>
      </p:sp>
      <p:grpSp>
        <p:nvGrpSpPr>
          <p:cNvPr name="Group 4" id="4"/>
          <p:cNvGrpSpPr/>
          <p:nvPr/>
        </p:nvGrpSpPr>
        <p:grpSpPr>
          <a:xfrm rot="-10197375">
            <a:off x="15918320" y="63773"/>
            <a:ext cx="4346206" cy="11332498"/>
            <a:chOff x="0" y="0"/>
            <a:chExt cx="1144680" cy="29846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4680" cy="2984691"/>
            </a:xfrm>
            <a:custGeom>
              <a:avLst/>
              <a:gdLst/>
              <a:ahLst/>
              <a:cxnLst/>
              <a:rect r="r" b="b" t="t" l="l"/>
              <a:pathLst>
                <a:path h="2984691" w="1144680">
                  <a:moveTo>
                    <a:pt x="203200" y="2984691"/>
                  </a:moveTo>
                  <a:lnTo>
                    <a:pt x="941480" y="2984691"/>
                  </a:lnTo>
                  <a:lnTo>
                    <a:pt x="1144680" y="0"/>
                  </a:lnTo>
                  <a:lnTo>
                    <a:pt x="0" y="0"/>
                  </a:lnTo>
                  <a:lnTo>
                    <a:pt x="203200" y="2984691"/>
                  </a:lnTo>
                  <a:close/>
                </a:path>
              </a:pathLst>
            </a:custGeom>
            <a:solidFill>
              <a:srgbClr val="9EA2C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27000" y="-76200"/>
              <a:ext cx="890680" cy="3060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10221966">
            <a:off x="16290572" y="51881"/>
            <a:ext cx="4300384" cy="11285430"/>
            <a:chOff x="0" y="0"/>
            <a:chExt cx="1132611" cy="29722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2611" cy="2972295"/>
            </a:xfrm>
            <a:custGeom>
              <a:avLst/>
              <a:gdLst/>
              <a:ahLst/>
              <a:cxnLst/>
              <a:rect r="r" b="b" t="t" l="l"/>
              <a:pathLst>
                <a:path h="2972295" w="1132611">
                  <a:moveTo>
                    <a:pt x="203200" y="2972295"/>
                  </a:moveTo>
                  <a:lnTo>
                    <a:pt x="929411" y="2972295"/>
                  </a:lnTo>
                  <a:lnTo>
                    <a:pt x="1132611" y="0"/>
                  </a:lnTo>
                  <a:lnTo>
                    <a:pt x="0" y="0"/>
                  </a:lnTo>
                  <a:lnTo>
                    <a:pt x="203200" y="2972295"/>
                  </a:lnTo>
                  <a:close/>
                </a:path>
              </a:pathLst>
            </a:custGeom>
            <a:solidFill>
              <a:srgbClr val="F9869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7000" y="-76200"/>
              <a:ext cx="878611" cy="3048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>
            <a:off x="3709738" y="5124450"/>
            <a:ext cx="1235251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3709738" y="5429250"/>
            <a:ext cx="6725572" cy="1656717"/>
            <a:chOff x="0" y="0"/>
            <a:chExt cx="8967429" cy="220895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104775"/>
              <a:ext cx="8967429" cy="664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8" indent="-302259" lvl="1">
                <a:lnSpc>
                  <a:spcPts val="44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799" spc="-55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LangSmith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719879"/>
              <a:ext cx="6969693" cy="664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8" indent="-302259" lvl="1">
                <a:lnSpc>
                  <a:spcPts val="44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799" spc="-55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Streamlit UI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544533"/>
              <a:ext cx="7894621" cy="664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7118360" y="929045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29570" y="3703297"/>
            <a:ext cx="801171" cy="1236988"/>
            <a:chOff x="0" y="0"/>
            <a:chExt cx="543539" cy="8392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3539" cy="839211"/>
            </a:xfrm>
            <a:custGeom>
              <a:avLst/>
              <a:gdLst/>
              <a:ahLst/>
              <a:cxnLst/>
              <a:rect r="r" b="b" t="t" l="l"/>
              <a:pathLst>
                <a:path h="839211" w="543539">
                  <a:moveTo>
                    <a:pt x="271769" y="839211"/>
                  </a:moveTo>
                  <a:lnTo>
                    <a:pt x="0" y="432811"/>
                  </a:lnTo>
                  <a:lnTo>
                    <a:pt x="203200" y="432811"/>
                  </a:lnTo>
                  <a:lnTo>
                    <a:pt x="203200" y="0"/>
                  </a:lnTo>
                  <a:lnTo>
                    <a:pt x="340339" y="0"/>
                  </a:lnTo>
                  <a:lnTo>
                    <a:pt x="340339" y="432811"/>
                  </a:lnTo>
                  <a:lnTo>
                    <a:pt x="543539" y="432811"/>
                  </a:lnTo>
                  <a:lnTo>
                    <a:pt x="271769" y="839211"/>
                  </a:lnTo>
                  <a:close/>
                </a:path>
              </a:pathLst>
            </a:custGeom>
            <a:solidFill>
              <a:srgbClr val="F986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03200" y="-76200"/>
              <a:ext cx="137139" cy="813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97094" y="801511"/>
            <a:ext cx="5003313" cy="524831"/>
            <a:chOff x="0" y="0"/>
            <a:chExt cx="6671084" cy="6997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6195" cy="699775"/>
            </a:xfrm>
            <a:custGeom>
              <a:avLst/>
              <a:gdLst/>
              <a:ahLst/>
              <a:cxnLst/>
              <a:rect r="r" b="b" t="t" l="l"/>
              <a:pathLst>
                <a:path h="699775" w="706195">
                  <a:moveTo>
                    <a:pt x="0" y="0"/>
                  </a:moveTo>
                  <a:lnTo>
                    <a:pt x="706195" y="0"/>
                  </a:lnTo>
                  <a:lnTo>
                    <a:pt x="706195" y="699775"/>
                  </a:lnTo>
                  <a:lnTo>
                    <a:pt x="0" y="699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818164" y="58767"/>
              <a:ext cx="5852920" cy="5822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1"/>
                </a:lnSpc>
              </a:pPr>
              <a:r>
                <a:rPr lang="en-US" sz="2909" spc="-58" b="true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Analyzer_node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97094" y="5245085"/>
            <a:ext cx="5003313" cy="524831"/>
            <a:chOff x="0" y="0"/>
            <a:chExt cx="6671084" cy="6997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6195" cy="699775"/>
            </a:xfrm>
            <a:custGeom>
              <a:avLst/>
              <a:gdLst/>
              <a:ahLst/>
              <a:cxnLst/>
              <a:rect r="r" b="b" t="t" l="l"/>
              <a:pathLst>
                <a:path h="699775" w="706195">
                  <a:moveTo>
                    <a:pt x="0" y="0"/>
                  </a:moveTo>
                  <a:lnTo>
                    <a:pt x="706195" y="0"/>
                  </a:lnTo>
                  <a:lnTo>
                    <a:pt x="706195" y="699775"/>
                  </a:lnTo>
                  <a:lnTo>
                    <a:pt x="0" y="699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818164" y="58767"/>
              <a:ext cx="5852920" cy="5822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1"/>
                </a:lnSpc>
              </a:pPr>
              <a:r>
                <a:rPr lang="en-US" sz="2909" spc="-58" b="true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CRITIC_node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820755" y="3228579"/>
            <a:ext cx="4069113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b="true" sz="2199" spc="-43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트러블이 많은 피부라 예민한</a:t>
            </a:r>
            <a:r>
              <a:rPr lang="en-US" b="true" sz="2199" spc="-43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피부인데 친구꺼 써보고 좋아서 바로 구매했네요 사은품 미니 용량도 주시고 밤에는 듬뿍 낮에는 적당히 촉촉하게 발라요.</a:t>
            </a:r>
          </a:p>
        </p:txBody>
      </p:sp>
      <p:grpSp>
        <p:nvGrpSpPr>
          <p:cNvPr name="Group 12" id="12"/>
          <p:cNvGrpSpPr/>
          <p:nvPr/>
        </p:nvGrpSpPr>
        <p:grpSpPr>
          <a:xfrm rot="-7376944">
            <a:off x="5099293" y="2982241"/>
            <a:ext cx="806896" cy="3916089"/>
            <a:chOff x="0" y="0"/>
            <a:chExt cx="543539" cy="26379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3539" cy="2637943"/>
            </a:xfrm>
            <a:custGeom>
              <a:avLst/>
              <a:gdLst/>
              <a:ahLst/>
              <a:cxnLst/>
              <a:rect r="r" b="b" t="t" l="l"/>
              <a:pathLst>
                <a:path h="2637943" w="543539">
                  <a:moveTo>
                    <a:pt x="271769" y="2637943"/>
                  </a:moveTo>
                  <a:lnTo>
                    <a:pt x="0" y="2231543"/>
                  </a:lnTo>
                  <a:lnTo>
                    <a:pt x="203200" y="2231543"/>
                  </a:lnTo>
                  <a:lnTo>
                    <a:pt x="203200" y="0"/>
                  </a:lnTo>
                  <a:lnTo>
                    <a:pt x="340339" y="0"/>
                  </a:lnTo>
                  <a:lnTo>
                    <a:pt x="340339" y="2231543"/>
                  </a:lnTo>
                  <a:lnTo>
                    <a:pt x="543539" y="2231543"/>
                  </a:lnTo>
                  <a:lnTo>
                    <a:pt x="271769" y="2637943"/>
                  </a:lnTo>
                  <a:close/>
                </a:path>
              </a:pathLst>
            </a:custGeom>
            <a:solidFill>
              <a:srgbClr val="F9869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203200" y="-76200"/>
              <a:ext cx="137139" cy="2612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275690" y="4803406"/>
            <a:ext cx="2364517" cy="3080804"/>
          </a:xfrm>
          <a:custGeom>
            <a:avLst/>
            <a:gdLst/>
            <a:ahLst/>
            <a:cxnLst/>
            <a:rect r="r" b="b" t="t" l="l"/>
            <a:pathLst>
              <a:path h="3080804" w="2364517">
                <a:moveTo>
                  <a:pt x="0" y="0"/>
                </a:moveTo>
                <a:lnTo>
                  <a:pt x="2364517" y="0"/>
                </a:lnTo>
                <a:lnTo>
                  <a:pt x="2364517" y="3080804"/>
                </a:lnTo>
                <a:lnTo>
                  <a:pt x="0" y="3080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472562" y="1504227"/>
            <a:ext cx="10815438" cy="1898894"/>
          </a:xfrm>
          <a:custGeom>
            <a:avLst/>
            <a:gdLst/>
            <a:ahLst/>
            <a:cxnLst/>
            <a:rect r="r" b="b" t="t" l="l"/>
            <a:pathLst>
              <a:path h="1898894" w="10815438">
                <a:moveTo>
                  <a:pt x="0" y="0"/>
                </a:moveTo>
                <a:lnTo>
                  <a:pt x="10815438" y="0"/>
                </a:lnTo>
                <a:lnTo>
                  <a:pt x="10815438" y="1898894"/>
                </a:lnTo>
                <a:lnTo>
                  <a:pt x="0" y="1898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472562" y="5950892"/>
            <a:ext cx="10616538" cy="4283882"/>
          </a:xfrm>
          <a:custGeom>
            <a:avLst/>
            <a:gdLst/>
            <a:ahLst/>
            <a:cxnLst/>
            <a:rect r="r" b="b" t="t" l="l"/>
            <a:pathLst>
              <a:path h="4283882" w="10616538">
                <a:moveTo>
                  <a:pt x="0" y="0"/>
                </a:moveTo>
                <a:lnTo>
                  <a:pt x="10616539" y="0"/>
                </a:lnTo>
                <a:lnTo>
                  <a:pt x="10616539" y="4283881"/>
                </a:lnTo>
                <a:lnTo>
                  <a:pt x="0" y="42838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813" r="0" b="-813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88582" y="636182"/>
            <a:ext cx="206434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C456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03</a:t>
            </a:r>
            <a:r>
              <a:rPr lang="en-US" b="true" sz="300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결과 확인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4298" y="1504227"/>
            <a:ext cx="497895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spc="-66" b="true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LangSmith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118360" y="929045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18256"/>
            <a:ext cx="18288000" cy="268744"/>
            <a:chOff x="0" y="0"/>
            <a:chExt cx="4816593" cy="70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0780"/>
            </a:xfrm>
            <a:custGeom>
              <a:avLst/>
              <a:gdLst/>
              <a:ahLst/>
              <a:cxnLst/>
              <a:rect r="r" b="b" t="t" l="l"/>
              <a:pathLst>
                <a:path h="7078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0780"/>
                  </a:lnTo>
                  <a:lnTo>
                    <a:pt x="0" y="70780"/>
                  </a:lnTo>
                  <a:close/>
                </a:path>
              </a:pathLst>
            </a:custGeom>
            <a:solidFill>
              <a:srgbClr val="FC456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108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51243" y="2951759"/>
            <a:ext cx="8177038" cy="6306541"/>
          </a:xfrm>
          <a:custGeom>
            <a:avLst/>
            <a:gdLst/>
            <a:ahLst/>
            <a:cxnLst/>
            <a:rect r="r" b="b" t="t" l="l"/>
            <a:pathLst>
              <a:path h="6306541" w="8177038">
                <a:moveTo>
                  <a:pt x="0" y="0"/>
                </a:moveTo>
                <a:lnTo>
                  <a:pt x="8177039" y="0"/>
                </a:lnTo>
                <a:lnTo>
                  <a:pt x="8177039" y="6306541"/>
                </a:lnTo>
                <a:lnTo>
                  <a:pt x="0" y="6306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43253" y="352130"/>
            <a:ext cx="8268279" cy="2304193"/>
          </a:xfrm>
          <a:custGeom>
            <a:avLst/>
            <a:gdLst/>
            <a:ahLst/>
            <a:cxnLst/>
            <a:rect r="r" b="b" t="t" l="l"/>
            <a:pathLst>
              <a:path h="2304193" w="8268279">
                <a:moveTo>
                  <a:pt x="0" y="0"/>
                </a:moveTo>
                <a:lnTo>
                  <a:pt x="8268280" y="0"/>
                </a:lnTo>
                <a:lnTo>
                  <a:pt x="8268280" y="2304193"/>
                </a:lnTo>
                <a:lnTo>
                  <a:pt x="0" y="23041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479" r="0" b="-247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683987" y="3022014"/>
            <a:ext cx="6154282" cy="6306541"/>
          </a:xfrm>
          <a:custGeom>
            <a:avLst/>
            <a:gdLst/>
            <a:ahLst/>
            <a:cxnLst/>
            <a:rect r="r" b="b" t="t" l="l"/>
            <a:pathLst>
              <a:path h="6306541" w="6154282">
                <a:moveTo>
                  <a:pt x="0" y="0"/>
                </a:moveTo>
                <a:lnTo>
                  <a:pt x="6154282" y="0"/>
                </a:lnTo>
                <a:lnTo>
                  <a:pt x="6154282" y="6306541"/>
                </a:lnTo>
                <a:lnTo>
                  <a:pt x="0" y="63065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865" b="-3011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88582" y="636182"/>
            <a:ext cx="206434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C456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03</a:t>
            </a:r>
            <a:r>
              <a:rPr lang="en-US" b="true" sz="300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결과 확인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4298" y="1504227"/>
            <a:ext cx="497895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spc="-66" b="true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Streamlit UI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118360" y="929045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115281"/>
            <a:ext cx="231655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제품 개선 방향을 도출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18256"/>
            <a:ext cx="18288000" cy="268744"/>
            <a:chOff x="0" y="0"/>
            <a:chExt cx="4816593" cy="70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0780"/>
            </a:xfrm>
            <a:custGeom>
              <a:avLst/>
              <a:gdLst/>
              <a:ahLst/>
              <a:cxnLst/>
              <a:rect r="r" b="b" t="t" l="l"/>
              <a:pathLst>
                <a:path h="7078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0780"/>
                  </a:lnTo>
                  <a:lnTo>
                    <a:pt x="0" y="70780"/>
                  </a:lnTo>
                  <a:close/>
                </a:path>
              </a:pathLst>
            </a:custGeom>
            <a:solidFill>
              <a:srgbClr val="FC456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108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118360" y="929045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8582" y="636182"/>
            <a:ext cx="206434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C456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03</a:t>
            </a:r>
            <a:r>
              <a:rPr lang="en-US" b="true" sz="300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결과 확인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08745" y="1732377"/>
            <a:ext cx="5019424" cy="4191329"/>
            <a:chOff x="0" y="0"/>
            <a:chExt cx="6692566" cy="55884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24" y="1522573"/>
              <a:ext cx="6667142" cy="4065867"/>
            </a:xfrm>
            <a:custGeom>
              <a:avLst/>
              <a:gdLst/>
              <a:ahLst/>
              <a:cxnLst/>
              <a:rect r="r" b="b" t="t" l="l"/>
              <a:pathLst>
                <a:path h="4065867" w="6667142">
                  <a:moveTo>
                    <a:pt x="0" y="0"/>
                  </a:moveTo>
                  <a:lnTo>
                    <a:pt x="6667142" y="0"/>
                  </a:lnTo>
                  <a:lnTo>
                    <a:pt x="6667142" y="4065866"/>
                  </a:lnTo>
                  <a:lnTo>
                    <a:pt x="0" y="4065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360" b="-18103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0" y="0"/>
              <a:ext cx="6692566" cy="1286116"/>
              <a:chOff x="0" y="0"/>
              <a:chExt cx="1320738" cy="25380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20738" cy="253807"/>
              </a:xfrm>
              <a:custGeom>
                <a:avLst/>
                <a:gdLst/>
                <a:ahLst/>
                <a:cxnLst/>
                <a:rect r="r" b="b" t="t" l="l"/>
                <a:pathLst>
                  <a:path h="253807" w="1320738">
                    <a:moveTo>
                      <a:pt x="41645" y="0"/>
                    </a:moveTo>
                    <a:lnTo>
                      <a:pt x="1279093" y="0"/>
                    </a:lnTo>
                    <a:cubicBezTo>
                      <a:pt x="1290138" y="0"/>
                      <a:pt x="1300730" y="4388"/>
                      <a:pt x="1308540" y="12197"/>
                    </a:cubicBezTo>
                    <a:cubicBezTo>
                      <a:pt x="1316350" y="20007"/>
                      <a:pt x="1320738" y="30600"/>
                      <a:pt x="1320738" y="41645"/>
                    </a:cubicBezTo>
                    <a:lnTo>
                      <a:pt x="1320738" y="212163"/>
                    </a:lnTo>
                    <a:cubicBezTo>
                      <a:pt x="1320738" y="235162"/>
                      <a:pt x="1302093" y="253807"/>
                      <a:pt x="1279093" y="253807"/>
                    </a:cubicBezTo>
                    <a:lnTo>
                      <a:pt x="41645" y="253807"/>
                    </a:lnTo>
                    <a:cubicBezTo>
                      <a:pt x="18645" y="253807"/>
                      <a:pt x="0" y="235162"/>
                      <a:pt x="0" y="212163"/>
                    </a:cubicBezTo>
                    <a:lnTo>
                      <a:pt x="0" y="41645"/>
                    </a:lnTo>
                    <a:cubicBezTo>
                      <a:pt x="0" y="30600"/>
                      <a:pt x="4388" y="20007"/>
                      <a:pt x="12197" y="12197"/>
                    </a:cubicBezTo>
                    <a:cubicBezTo>
                      <a:pt x="20007" y="4388"/>
                      <a:pt x="30600" y="0"/>
                      <a:pt x="41645" y="0"/>
                    </a:cubicBezTo>
                    <a:close/>
                  </a:path>
                </a:pathLst>
              </a:custGeom>
              <a:solidFill>
                <a:srgbClr val="F98698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47625"/>
                <a:ext cx="1320738" cy="206182"/>
              </a:xfrm>
              <a:prstGeom prst="rect">
                <a:avLst/>
              </a:prstGeom>
            </p:spPr>
            <p:txBody>
              <a:bodyPr anchor="ctr" rtlCol="false" tIns="50848" lIns="50848" bIns="50848" rIns="50848"/>
              <a:lstStyle/>
              <a:p>
                <a:pPr algn="ctr">
                  <a:lnSpc>
                    <a:spcPts val="2299"/>
                  </a:lnSpc>
                </a:pPr>
                <a:r>
                  <a:rPr lang="en-US" b="true" sz="2299" spc="-45">
                    <a:solidFill>
                      <a:srgbClr val="000000"/>
                    </a:solidFill>
                    <a:latin typeface="Source Han Sans KR Bold"/>
                    <a:ea typeface="Source Han Sans KR Bold"/>
                    <a:cs typeface="Source Han Sans KR Bold"/>
                    <a:sym typeface="Source Han Sans KR Bold"/>
                  </a:rPr>
                  <a:t>상품 리뷰 분석 대시보드</a:t>
                </a: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2721043" y="6379439"/>
            <a:ext cx="7002022" cy="3099920"/>
            <a:chOff x="0" y="0"/>
            <a:chExt cx="9336029" cy="413322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5317003" cy="1286116"/>
              <a:chOff x="0" y="0"/>
              <a:chExt cx="1049279" cy="25380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49279" cy="253807"/>
              </a:xfrm>
              <a:custGeom>
                <a:avLst/>
                <a:gdLst/>
                <a:ahLst/>
                <a:cxnLst/>
                <a:rect r="r" b="b" t="t" l="l"/>
                <a:pathLst>
                  <a:path h="253807" w="1049279">
                    <a:moveTo>
                      <a:pt x="52418" y="0"/>
                    </a:moveTo>
                    <a:lnTo>
                      <a:pt x="996860" y="0"/>
                    </a:lnTo>
                    <a:cubicBezTo>
                      <a:pt x="1010762" y="0"/>
                      <a:pt x="1024095" y="5523"/>
                      <a:pt x="1033926" y="15353"/>
                    </a:cubicBezTo>
                    <a:cubicBezTo>
                      <a:pt x="1043756" y="25183"/>
                      <a:pt x="1049279" y="38516"/>
                      <a:pt x="1049279" y="52418"/>
                    </a:cubicBezTo>
                    <a:lnTo>
                      <a:pt x="1049279" y="201389"/>
                    </a:lnTo>
                    <a:cubicBezTo>
                      <a:pt x="1049279" y="230339"/>
                      <a:pt x="1025810" y="253807"/>
                      <a:pt x="996860" y="253807"/>
                    </a:cubicBezTo>
                    <a:lnTo>
                      <a:pt x="52418" y="253807"/>
                    </a:lnTo>
                    <a:cubicBezTo>
                      <a:pt x="23469" y="253807"/>
                      <a:pt x="0" y="230339"/>
                      <a:pt x="0" y="201389"/>
                    </a:cubicBezTo>
                    <a:lnTo>
                      <a:pt x="0" y="52418"/>
                    </a:lnTo>
                    <a:cubicBezTo>
                      <a:pt x="0" y="23469"/>
                      <a:pt x="23469" y="0"/>
                      <a:pt x="52418" y="0"/>
                    </a:cubicBezTo>
                    <a:close/>
                  </a:path>
                </a:pathLst>
              </a:custGeom>
              <a:solidFill>
                <a:srgbClr val="F98698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47625"/>
                <a:ext cx="1049279" cy="206182"/>
              </a:xfrm>
              <a:prstGeom prst="rect">
                <a:avLst/>
              </a:prstGeom>
            </p:spPr>
            <p:txBody>
              <a:bodyPr anchor="ctr" rtlCol="false" tIns="50848" lIns="50848" bIns="50848" rIns="50848"/>
              <a:lstStyle/>
              <a:p>
                <a:pPr algn="ctr">
                  <a:lnSpc>
                    <a:spcPts val="2299"/>
                  </a:lnSpc>
                </a:pPr>
                <a:r>
                  <a:rPr lang="en-US" b="true" sz="2299" spc="-45">
                    <a:solidFill>
                      <a:srgbClr val="000000"/>
                    </a:solidFill>
                    <a:latin typeface="Source Han Sans KR Bold"/>
                    <a:ea typeface="Source Han Sans KR Bold"/>
                    <a:cs typeface="Source Han Sans KR Bold"/>
                    <a:sym typeface="Source Han Sans KR Bold"/>
                  </a:rPr>
                  <a:t>리뷰 분석 건별 조회</a:t>
                </a: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170100" y="1936623"/>
              <a:ext cx="9165929" cy="2196603"/>
            </a:xfrm>
            <a:custGeom>
              <a:avLst/>
              <a:gdLst/>
              <a:ahLst/>
              <a:cxnLst/>
              <a:rect r="r" b="b" t="t" l="l"/>
              <a:pathLst>
                <a:path h="2196603" w="9165929">
                  <a:moveTo>
                    <a:pt x="0" y="0"/>
                  </a:moveTo>
                  <a:lnTo>
                    <a:pt x="9165929" y="0"/>
                  </a:lnTo>
                  <a:lnTo>
                    <a:pt x="9165929" y="2196603"/>
                  </a:lnTo>
                  <a:lnTo>
                    <a:pt x="0" y="219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87" t="0" r="-12631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475994" y="1735430"/>
            <a:ext cx="3015935" cy="3633812"/>
            <a:chOff x="0" y="0"/>
            <a:chExt cx="4021247" cy="4845083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4021247" cy="1286116"/>
              <a:chOff x="0" y="0"/>
              <a:chExt cx="793569" cy="253807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793569" cy="253807"/>
              </a:xfrm>
              <a:custGeom>
                <a:avLst/>
                <a:gdLst/>
                <a:ahLst/>
                <a:cxnLst/>
                <a:rect r="r" b="b" t="t" l="l"/>
                <a:pathLst>
                  <a:path h="253807" w="793569">
                    <a:moveTo>
                      <a:pt x="69309" y="0"/>
                    </a:moveTo>
                    <a:lnTo>
                      <a:pt x="724260" y="0"/>
                    </a:lnTo>
                    <a:cubicBezTo>
                      <a:pt x="742642" y="0"/>
                      <a:pt x="760271" y="7302"/>
                      <a:pt x="773269" y="20300"/>
                    </a:cubicBezTo>
                    <a:cubicBezTo>
                      <a:pt x="786267" y="33298"/>
                      <a:pt x="793569" y="50927"/>
                      <a:pt x="793569" y="69309"/>
                    </a:cubicBezTo>
                    <a:lnTo>
                      <a:pt x="793569" y="184498"/>
                    </a:lnTo>
                    <a:cubicBezTo>
                      <a:pt x="793569" y="202880"/>
                      <a:pt x="786267" y="220509"/>
                      <a:pt x="773269" y="233507"/>
                    </a:cubicBezTo>
                    <a:cubicBezTo>
                      <a:pt x="760271" y="246505"/>
                      <a:pt x="742642" y="253807"/>
                      <a:pt x="724260" y="253807"/>
                    </a:cubicBezTo>
                    <a:lnTo>
                      <a:pt x="69309" y="253807"/>
                    </a:lnTo>
                    <a:cubicBezTo>
                      <a:pt x="50927" y="253807"/>
                      <a:pt x="33298" y="246505"/>
                      <a:pt x="20300" y="233507"/>
                    </a:cubicBezTo>
                    <a:cubicBezTo>
                      <a:pt x="7302" y="220509"/>
                      <a:pt x="0" y="202880"/>
                      <a:pt x="0" y="184498"/>
                    </a:cubicBezTo>
                    <a:lnTo>
                      <a:pt x="0" y="69309"/>
                    </a:lnTo>
                    <a:cubicBezTo>
                      <a:pt x="0" y="50927"/>
                      <a:pt x="7302" y="33298"/>
                      <a:pt x="20300" y="20300"/>
                    </a:cubicBezTo>
                    <a:cubicBezTo>
                      <a:pt x="33298" y="7302"/>
                      <a:pt x="50927" y="0"/>
                      <a:pt x="69309" y="0"/>
                    </a:cubicBezTo>
                    <a:close/>
                  </a:path>
                </a:pathLst>
              </a:custGeom>
              <a:solidFill>
                <a:srgbClr val="F98698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47625"/>
                <a:ext cx="793569" cy="206182"/>
              </a:xfrm>
              <a:prstGeom prst="rect">
                <a:avLst/>
              </a:prstGeom>
            </p:spPr>
            <p:txBody>
              <a:bodyPr anchor="ctr" rtlCol="false" tIns="50848" lIns="50848" bIns="50848" rIns="50848"/>
              <a:lstStyle/>
              <a:p>
                <a:pPr algn="ctr">
                  <a:lnSpc>
                    <a:spcPts val="2299"/>
                  </a:lnSpc>
                </a:pPr>
                <a:r>
                  <a:rPr lang="en-US" b="true" sz="2299" spc="-45">
                    <a:solidFill>
                      <a:srgbClr val="000000"/>
                    </a:solidFill>
                    <a:latin typeface="Source Han Sans KR Bold"/>
                    <a:ea typeface="Source Han Sans KR Bold"/>
                    <a:cs typeface="Source Han Sans KR Bold"/>
                    <a:sym typeface="Source Han Sans KR Bold"/>
                  </a:rPr>
                  <a:t>리뷰 분석 시각화</a:t>
                </a: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0" y="1759029"/>
              <a:ext cx="4021247" cy="3086054"/>
            </a:xfrm>
            <a:custGeom>
              <a:avLst/>
              <a:gdLst/>
              <a:ahLst/>
              <a:cxnLst/>
              <a:rect r="r" b="b" t="t" l="l"/>
              <a:pathLst>
                <a:path h="3086054" w="4021247">
                  <a:moveTo>
                    <a:pt x="0" y="0"/>
                  </a:moveTo>
                  <a:lnTo>
                    <a:pt x="4021247" y="0"/>
                  </a:lnTo>
                  <a:lnTo>
                    <a:pt x="4021247" y="3086054"/>
                  </a:lnTo>
                  <a:lnTo>
                    <a:pt x="0" y="3086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8" t="0" r="-20518" b="-95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734831" y="5951694"/>
            <a:ext cx="4768548" cy="3706456"/>
            <a:chOff x="0" y="0"/>
            <a:chExt cx="6358064" cy="494194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1875401"/>
              <a:ext cx="6358064" cy="3066540"/>
            </a:xfrm>
            <a:custGeom>
              <a:avLst/>
              <a:gdLst/>
              <a:ahLst/>
              <a:cxnLst/>
              <a:rect r="r" b="b" t="t" l="l"/>
              <a:pathLst>
                <a:path h="3066540" w="6358064">
                  <a:moveTo>
                    <a:pt x="0" y="0"/>
                  </a:moveTo>
                  <a:lnTo>
                    <a:pt x="6358064" y="0"/>
                  </a:lnTo>
                  <a:lnTo>
                    <a:pt x="6358064" y="3066540"/>
                  </a:lnTo>
                  <a:lnTo>
                    <a:pt x="0" y="3066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235" r="0" b="-5235"/>
              </a:stretch>
            </a:blipFill>
          </p:spPr>
        </p:sp>
        <p:grpSp>
          <p:nvGrpSpPr>
            <p:cNvPr name="Group 24" id="24"/>
            <p:cNvGrpSpPr/>
            <p:nvPr/>
          </p:nvGrpSpPr>
          <p:grpSpPr>
            <a:xfrm rot="0">
              <a:off x="0" y="0"/>
              <a:ext cx="6358064" cy="1284996"/>
              <a:chOff x="0" y="0"/>
              <a:chExt cx="1254726" cy="253586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254726" cy="253586"/>
              </a:xfrm>
              <a:custGeom>
                <a:avLst/>
                <a:gdLst/>
                <a:ahLst/>
                <a:cxnLst/>
                <a:rect r="r" b="b" t="t" l="l"/>
                <a:pathLst>
                  <a:path h="253586" w="1254726">
                    <a:moveTo>
                      <a:pt x="43836" y="0"/>
                    </a:moveTo>
                    <a:lnTo>
                      <a:pt x="1210890" y="0"/>
                    </a:lnTo>
                    <a:cubicBezTo>
                      <a:pt x="1235100" y="0"/>
                      <a:pt x="1254726" y="19626"/>
                      <a:pt x="1254726" y="43836"/>
                    </a:cubicBezTo>
                    <a:lnTo>
                      <a:pt x="1254726" y="209751"/>
                    </a:lnTo>
                    <a:cubicBezTo>
                      <a:pt x="1254726" y="221377"/>
                      <a:pt x="1250108" y="232526"/>
                      <a:pt x="1241887" y="240747"/>
                    </a:cubicBezTo>
                    <a:cubicBezTo>
                      <a:pt x="1233666" y="248968"/>
                      <a:pt x="1222516" y="253586"/>
                      <a:pt x="1210890" y="253586"/>
                    </a:cubicBezTo>
                    <a:lnTo>
                      <a:pt x="43836" y="253586"/>
                    </a:lnTo>
                    <a:cubicBezTo>
                      <a:pt x="32210" y="253586"/>
                      <a:pt x="21060" y="248968"/>
                      <a:pt x="12839" y="240747"/>
                    </a:cubicBezTo>
                    <a:cubicBezTo>
                      <a:pt x="4618" y="232526"/>
                      <a:pt x="0" y="221377"/>
                      <a:pt x="0" y="209751"/>
                    </a:cubicBezTo>
                    <a:lnTo>
                      <a:pt x="0" y="43836"/>
                    </a:lnTo>
                    <a:cubicBezTo>
                      <a:pt x="0" y="32210"/>
                      <a:pt x="4618" y="21060"/>
                      <a:pt x="12839" y="12839"/>
                    </a:cubicBezTo>
                    <a:cubicBezTo>
                      <a:pt x="21060" y="4618"/>
                      <a:pt x="32210" y="0"/>
                      <a:pt x="43836" y="0"/>
                    </a:cubicBezTo>
                    <a:close/>
                  </a:path>
                </a:pathLst>
              </a:custGeom>
              <a:solidFill>
                <a:srgbClr val="F98698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47625"/>
                <a:ext cx="1254726" cy="205961"/>
              </a:xfrm>
              <a:prstGeom prst="rect">
                <a:avLst/>
              </a:prstGeom>
            </p:spPr>
            <p:txBody>
              <a:bodyPr anchor="ctr" rtlCol="false" tIns="50848" lIns="50848" bIns="50848" rIns="50848"/>
              <a:lstStyle/>
              <a:p>
                <a:pPr algn="ctr">
                  <a:lnSpc>
                    <a:spcPts val="2299"/>
                  </a:lnSpc>
                </a:pPr>
                <a:r>
                  <a:rPr lang="en-US" b="true" sz="2299" spc="-45">
                    <a:solidFill>
                      <a:srgbClr val="000000"/>
                    </a:solidFill>
                    <a:latin typeface="Source Han Sans KR Bold"/>
                    <a:ea typeface="Source Han Sans KR Bold"/>
                    <a:cs typeface="Source Han Sans KR Bold"/>
                    <a:sym typeface="Source Han Sans KR Bold"/>
                  </a:rPr>
                  <a:t>상세 조회</a:t>
                </a: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0">
            <a:off x="12140867" y="1735430"/>
            <a:ext cx="3608788" cy="3856158"/>
            <a:chOff x="0" y="0"/>
            <a:chExt cx="4811718" cy="514154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1944368"/>
              <a:ext cx="4811718" cy="3197176"/>
            </a:xfrm>
            <a:custGeom>
              <a:avLst/>
              <a:gdLst/>
              <a:ahLst/>
              <a:cxnLst/>
              <a:rect r="r" b="b" t="t" l="l"/>
              <a:pathLst>
                <a:path h="3197176" w="4811718">
                  <a:moveTo>
                    <a:pt x="0" y="0"/>
                  </a:moveTo>
                  <a:lnTo>
                    <a:pt x="4811718" y="0"/>
                  </a:lnTo>
                  <a:lnTo>
                    <a:pt x="4811718" y="3197176"/>
                  </a:lnTo>
                  <a:lnTo>
                    <a:pt x="0" y="31971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grpSp>
          <p:nvGrpSpPr>
            <p:cNvPr name="Group 29" id="29"/>
            <p:cNvGrpSpPr/>
            <p:nvPr/>
          </p:nvGrpSpPr>
          <p:grpSpPr>
            <a:xfrm rot="0">
              <a:off x="0" y="0"/>
              <a:ext cx="4811718" cy="1286116"/>
              <a:chOff x="0" y="0"/>
              <a:chExt cx="949564" cy="253807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949564" cy="253807"/>
              </a:xfrm>
              <a:custGeom>
                <a:avLst/>
                <a:gdLst/>
                <a:ahLst/>
                <a:cxnLst/>
                <a:rect r="r" b="b" t="t" l="l"/>
                <a:pathLst>
                  <a:path h="253807" w="949564">
                    <a:moveTo>
                      <a:pt x="57923" y="0"/>
                    </a:moveTo>
                    <a:lnTo>
                      <a:pt x="891641" y="0"/>
                    </a:lnTo>
                    <a:cubicBezTo>
                      <a:pt x="907003" y="0"/>
                      <a:pt x="921736" y="6103"/>
                      <a:pt x="932599" y="16965"/>
                    </a:cubicBezTo>
                    <a:cubicBezTo>
                      <a:pt x="943461" y="27828"/>
                      <a:pt x="949564" y="42561"/>
                      <a:pt x="949564" y="57923"/>
                    </a:cubicBezTo>
                    <a:lnTo>
                      <a:pt x="949564" y="195884"/>
                    </a:lnTo>
                    <a:cubicBezTo>
                      <a:pt x="949564" y="227874"/>
                      <a:pt x="923631" y="253807"/>
                      <a:pt x="891641" y="253807"/>
                    </a:cubicBezTo>
                    <a:lnTo>
                      <a:pt x="57923" y="253807"/>
                    </a:lnTo>
                    <a:cubicBezTo>
                      <a:pt x="25933" y="253807"/>
                      <a:pt x="0" y="227874"/>
                      <a:pt x="0" y="195884"/>
                    </a:cubicBezTo>
                    <a:lnTo>
                      <a:pt x="0" y="57923"/>
                    </a:lnTo>
                    <a:cubicBezTo>
                      <a:pt x="0" y="25933"/>
                      <a:pt x="25933" y="0"/>
                      <a:pt x="57923" y="0"/>
                    </a:cubicBezTo>
                    <a:close/>
                  </a:path>
                </a:pathLst>
              </a:custGeom>
              <a:solidFill>
                <a:srgbClr val="F98698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47625"/>
                <a:ext cx="949564" cy="206182"/>
              </a:xfrm>
              <a:prstGeom prst="rect">
                <a:avLst/>
              </a:prstGeom>
            </p:spPr>
            <p:txBody>
              <a:bodyPr anchor="ctr" rtlCol="false" tIns="50848" lIns="50848" bIns="50848" rIns="50848"/>
              <a:lstStyle/>
              <a:p>
                <a:pPr algn="ctr">
                  <a:lnSpc>
                    <a:spcPts val="2299"/>
                  </a:lnSpc>
                </a:pPr>
                <a:r>
                  <a:rPr lang="en-US" b="true" sz="2299" spc="-45">
                    <a:solidFill>
                      <a:srgbClr val="000000"/>
                    </a:solidFill>
                    <a:latin typeface="Source Han Sans KR Bold"/>
                    <a:ea typeface="Source Han Sans KR Bold"/>
                    <a:cs typeface="Source Han Sans KR Bold"/>
                    <a:sym typeface="Source Han Sans KR Bold"/>
                  </a:rPr>
                  <a:t>별점 분포</a:t>
                </a: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02624">
            <a:off x="-534684" y="-661780"/>
            <a:ext cx="4346206" cy="11332498"/>
            <a:chOff x="0" y="0"/>
            <a:chExt cx="1144680" cy="29846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4680" cy="2984691"/>
            </a:xfrm>
            <a:custGeom>
              <a:avLst/>
              <a:gdLst/>
              <a:ahLst/>
              <a:cxnLst/>
              <a:rect r="r" b="b" t="t" l="l"/>
              <a:pathLst>
                <a:path h="2984691" w="1144680">
                  <a:moveTo>
                    <a:pt x="203200" y="2984691"/>
                  </a:moveTo>
                  <a:lnTo>
                    <a:pt x="941480" y="2984691"/>
                  </a:lnTo>
                  <a:lnTo>
                    <a:pt x="1144680" y="0"/>
                  </a:lnTo>
                  <a:lnTo>
                    <a:pt x="0" y="0"/>
                  </a:lnTo>
                  <a:lnTo>
                    <a:pt x="203200" y="2984691"/>
                  </a:lnTo>
                  <a:close/>
                </a:path>
              </a:pathLst>
            </a:custGeom>
            <a:solidFill>
              <a:srgbClr val="9EA2C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76200"/>
              <a:ext cx="890680" cy="3060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78033">
            <a:off x="-926584" y="-602821"/>
            <a:ext cx="4300384" cy="11285430"/>
            <a:chOff x="0" y="0"/>
            <a:chExt cx="1132611" cy="29722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2611" cy="2972295"/>
            </a:xfrm>
            <a:custGeom>
              <a:avLst/>
              <a:gdLst/>
              <a:ahLst/>
              <a:cxnLst/>
              <a:rect r="r" b="b" t="t" l="l"/>
              <a:pathLst>
                <a:path h="2972295" w="1132611">
                  <a:moveTo>
                    <a:pt x="203200" y="2972295"/>
                  </a:moveTo>
                  <a:lnTo>
                    <a:pt x="929411" y="2972295"/>
                  </a:lnTo>
                  <a:lnTo>
                    <a:pt x="1132611" y="0"/>
                  </a:lnTo>
                  <a:lnTo>
                    <a:pt x="0" y="0"/>
                  </a:lnTo>
                  <a:lnTo>
                    <a:pt x="203200" y="2972295"/>
                  </a:lnTo>
                  <a:close/>
                </a:path>
              </a:pathLst>
            </a:custGeom>
            <a:solidFill>
              <a:srgbClr val="F9869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-76200"/>
              <a:ext cx="878611" cy="3048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287796" y="3712613"/>
            <a:ext cx="5600484" cy="1430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30"/>
              </a:lnSpc>
            </a:pPr>
            <a:r>
              <a:rPr lang="en-US" b="true" sz="845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Thank you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095649" y="9184231"/>
            <a:ext cx="1490757" cy="327639"/>
          </a:xfrm>
          <a:custGeom>
            <a:avLst/>
            <a:gdLst/>
            <a:ahLst/>
            <a:cxnLst/>
            <a:rect r="r" b="b" t="t" l="l"/>
            <a:pathLst>
              <a:path h="327639" w="1490757">
                <a:moveTo>
                  <a:pt x="0" y="0"/>
                </a:moveTo>
                <a:lnTo>
                  <a:pt x="1490757" y="0"/>
                </a:lnTo>
                <a:lnTo>
                  <a:pt x="1490757" y="327639"/>
                </a:lnTo>
                <a:lnTo>
                  <a:pt x="0" y="3276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DAHJaa_XTmI</dc:identifier>
  <dcterms:modified xsi:type="dcterms:W3CDTF">2011-08-01T06:04:30Z</dcterms:modified>
  <cp:revision>1</cp:revision>
  <dc:title>AI_12조</dc:title>
</cp:coreProperties>
</file>